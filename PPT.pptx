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0" r:id="rId2"/>
    <p:sldId id="257" r:id="rId3"/>
    <p:sldId id="258" r:id="rId4"/>
    <p:sldId id="294" r:id="rId5"/>
    <p:sldId id="293" r:id="rId6"/>
    <p:sldId id="282" r:id="rId7"/>
    <p:sldId id="278" r:id="rId8"/>
    <p:sldId id="279" r:id="rId9"/>
    <p:sldId id="263" r:id="rId10"/>
    <p:sldId id="266" r:id="rId11"/>
    <p:sldId id="262" r:id="rId12"/>
    <p:sldId id="268" r:id="rId13"/>
    <p:sldId id="267" r:id="rId14"/>
    <p:sldId id="265" r:id="rId15"/>
    <p:sldId id="264" r:id="rId16"/>
    <p:sldId id="277" r:id="rId17"/>
    <p:sldId id="269" r:id="rId18"/>
    <p:sldId id="270" r:id="rId19"/>
    <p:sldId id="271" r:id="rId20"/>
    <p:sldId id="272" r:id="rId21"/>
    <p:sldId id="274" r:id="rId22"/>
    <p:sldId id="288" r:id="rId23"/>
    <p:sldId id="283" r:id="rId24"/>
    <p:sldId id="284" r:id="rId25"/>
    <p:sldId id="285" r:id="rId26"/>
    <p:sldId id="286" r:id="rId27"/>
    <p:sldId id="287" r:id="rId28"/>
    <p:sldId id="290" r:id="rId29"/>
    <p:sldId id="291" r:id="rId30"/>
    <p:sldId id="28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74" d="100"/>
          <a:sy n="74" d="100"/>
        </p:scale>
        <p:origin x="3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4931E12-E4E0-429E-AFD8-6E1ED87435F8}"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B850F8-BDCA-41FA-99EC-DF5747FDBB11}" type="slidenum">
              <a:rPr lang="en-IN" smtClean="0"/>
              <a:t>‹#›</a:t>
            </a:fld>
            <a:endParaRPr lang="en-IN"/>
          </a:p>
        </p:txBody>
      </p:sp>
    </p:spTree>
    <p:extLst>
      <p:ext uri="{BB962C8B-B14F-4D97-AF65-F5344CB8AC3E}">
        <p14:creationId xmlns:p14="http://schemas.microsoft.com/office/powerpoint/2010/main" val="1409012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4931E12-E4E0-429E-AFD8-6E1ED87435F8}"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B850F8-BDCA-41FA-99EC-DF5747FDBB11}" type="slidenum">
              <a:rPr lang="en-IN" smtClean="0"/>
              <a:t>‹#›</a:t>
            </a:fld>
            <a:endParaRPr lang="en-IN"/>
          </a:p>
        </p:txBody>
      </p:sp>
    </p:spTree>
    <p:extLst>
      <p:ext uri="{BB962C8B-B14F-4D97-AF65-F5344CB8AC3E}">
        <p14:creationId xmlns:p14="http://schemas.microsoft.com/office/powerpoint/2010/main" val="2709362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4931E12-E4E0-429E-AFD8-6E1ED87435F8}"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B850F8-BDCA-41FA-99EC-DF5747FDBB11}" type="slidenum">
              <a:rPr lang="en-IN" smtClean="0"/>
              <a:t>‹#›</a:t>
            </a:fld>
            <a:endParaRPr lang="en-IN"/>
          </a:p>
        </p:txBody>
      </p:sp>
    </p:spTree>
    <p:extLst>
      <p:ext uri="{BB962C8B-B14F-4D97-AF65-F5344CB8AC3E}">
        <p14:creationId xmlns:p14="http://schemas.microsoft.com/office/powerpoint/2010/main" val="4287606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4931E12-E4E0-429E-AFD8-6E1ED87435F8}"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B850F8-BDCA-41FA-99EC-DF5747FDBB11}" type="slidenum">
              <a:rPr lang="en-IN" smtClean="0"/>
              <a:t>‹#›</a:t>
            </a:fld>
            <a:endParaRPr lang="en-IN"/>
          </a:p>
        </p:txBody>
      </p:sp>
    </p:spTree>
    <p:extLst>
      <p:ext uri="{BB962C8B-B14F-4D97-AF65-F5344CB8AC3E}">
        <p14:creationId xmlns:p14="http://schemas.microsoft.com/office/powerpoint/2010/main" val="980896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4931E12-E4E0-429E-AFD8-6E1ED87435F8}" type="datetimeFigureOut">
              <a:rPr lang="en-IN" smtClean="0"/>
              <a:t>01-04-2026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1B850F8-BDCA-41FA-99EC-DF5747FDBB11}" type="slidenum">
              <a:rPr lang="en-IN" smtClean="0"/>
              <a:t>‹#›</a:t>
            </a:fld>
            <a:endParaRPr lang="en-IN"/>
          </a:p>
        </p:txBody>
      </p:sp>
    </p:spTree>
    <p:extLst>
      <p:ext uri="{BB962C8B-B14F-4D97-AF65-F5344CB8AC3E}">
        <p14:creationId xmlns:p14="http://schemas.microsoft.com/office/powerpoint/2010/main" val="3526525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4931E12-E4E0-429E-AFD8-6E1ED87435F8}" type="datetimeFigureOut">
              <a:rPr lang="en-IN" smtClean="0"/>
              <a:t>01-04-2026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1B850F8-BDCA-41FA-99EC-DF5747FDBB11}" type="slidenum">
              <a:rPr lang="en-IN" smtClean="0"/>
              <a:t>‹#›</a:t>
            </a:fld>
            <a:endParaRPr lang="en-IN"/>
          </a:p>
        </p:txBody>
      </p:sp>
    </p:spTree>
    <p:extLst>
      <p:ext uri="{BB962C8B-B14F-4D97-AF65-F5344CB8AC3E}">
        <p14:creationId xmlns:p14="http://schemas.microsoft.com/office/powerpoint/2010/main" val="4220255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931E12-E4E0-429E-AFD8-6E1ED87435F8}" type="datetimeFigureOut">
              <a:rPr lang="en-IN" smtClean="0"/>
              <a:t>01-04-2026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1B850F8-BDCA-41FA-99EC-DF5747FDBB11}" type="slidenum">
              <a:rPr lang="en-IN" smtClean="0"/>
              <a:t>‹#›</a:t>
            </a:fld>
            <a:endParaRPr lang="en-IN"/>
          </a:p>
        </p:txBody>
      </p:sp>
    </p:spTree>
    <p:extLst>
      <p:ext uri="{BB962C8B-B14F-4D97-AF65-F5344CB8AC3E}">
        <p14:creationId xmlns:p14="http://schemas.microsoft.com/office/powerpoint/2010/main" val="3513836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931E12-E4E0-429E-AFD8-6E1ED87435F8}"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B850F8-BDCA-41FA-99EC-DF5747FDBB11}" type="slidenum">
              <a:rPr lang="en-IN" smtClean="0"/>
              <a:t>‹#›</a:t>
            </a:fld>
            <a:endParaRPr lang="en-IN"/>
          </a:p>
        </p:txBody>
      </p:sp>
    </p:spTree>
    <p:extLst>
      <p:ext uri="{BB962C8B-B14F-4D97-AF65-F5344CB8AC3E}">
        <p14:creationId xmlns:p14="http://schemas.microsoft.com/office/powerpoint/2010/main" val="1605705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931E12-E4E0-429E-AFD8-6E1ED87435F8}" type="datetimeFigureOut">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B850F8-BDCA-41FA-99EC-DF5747FDBB11}" type="slidenum">
              <a:rPr lang="en-IN" smtClean="0"/>
              <a:t>‹#›</a:t>
            </a:fld>
            <a:endParaRPr lang="en-IN"/>
          </a:p>
        </p:txBody>
      </p:sp>
    </p:spTree>
    <p:extLst>
      <p:ext uri="{BB962C8B-B14F-4D97-AF65-F5344CB8AC3E}">
        <p14:creationId xmlns:p14="http://schemas.microsoft.com/office/powerpoint/2010/main" val="1463183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4931E12-E4E0-429E-AFD8-6E1ED87435F8}"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B850F8-BDCA-41FA-99EC-DF5747FDBB11}" type="slidenum">
              <a:rPr lang="en-IN" smtClean="0"/>
              <a:t>‹#›</a:t>
            </a:fld>
            <a:endParaRPr lang="en-IN"/>
          </a:p>
        </p:txBody>
      </p:sp>
    </p:spTree>
    <p:extLst>
      <p:ext uri="{BB962C8B-B14F-4D97-AF65-F5344CB8AC3E}">
        <p14:creationId xmlns:p14="http://schemas.microsoft.com/office/powerpoint/2010/main" val="4251015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4931E12-E4E0-429E-AFD8-6E1ED87435F8}" type="datetimeFigureOut">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B850F8-BDCA-41FA-99EC-DF5747FDBB11}" type="slidenum">
              <a:rPr lang="en-IN" smtClean="0"/>
              <a:t>‹#›</a:t>
            </a:fld>
            <a:endParaRPr lang="en-IN"/>
          </a:p>
        </p:txBody>
      </p:sp>
    </p:spTree>
    <p:extLst>
      <p:ext uri="{BB962C8B-B14F-4D97-AF65-F5344CB8AC3E}">
        <p14:creationId xmlns:p14="http://schemas.microsoft.com/office/powerpoint/2010/main" val="53949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931E12-E4E0-429E-AFD8-6E1ED87435F8}" type="datetimeFigureOut">
              <a:rPr lang="en-IN" smtClean="0"/>
              <a:t>01-04-2026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B850F8-BDCA-41FA-99EC-DF5747FDBB11}" type="slidenum">
              <a:rPr lang="en-IN" smtClean="0"/>
              <a:t>‹#›</a:t>
            </a:fld>
            <a:endParaRPr lang="en-IN"/>
          </a:p>
        </p:txBody>
      </p:sp>
    </p:spTree>
    <p:extLst>
      <p:ext uri="{BB962C8B-B14F-4D97-AF65-F5344CB8AC3E}">
        <p14:creationId xmlns:p14="http://schemas.microsoft.com/office/powerpoint/2010/main" val="3375778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3359" y="438411"/>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1265128" y="2661615"/>
            <a:ext cx="9507255" cy="707886"/>
          </a:xfrm>
          <a:prstGeom prst="rect">
            <a:avLst/>
          </a:prstGeom>
          <a:noFill/>
        </p:spPr>
        <p:txBody>
          <a:bodyPr wrap="square" rtlCol="0">
            <a:spAutoFit/>
          </a:bodyPr>
          <a:lstStyle/>
          <a:p>
            <a:pPr algn="ctr"/>
            <a:r>
              <a:rPr lang="en-IN" sz="2000" b="1" dirty="0"/>
              <a:t> </a:t>
            </a:r>
            <a:endParaRPr lang="en-IN" sz="2000" dirty="0"/>
          </a:p>
          <a:p>
            <a:pPr algn="ctr"/>
            <a:r>
              <a:rPr lang="en-IN" sz="2000" b="1" dirty="0"/>
              <a:t>DIABETIC RETINOPATHY DETECTION USING FEDERATED LEARNING</a:t>
            </a:r>
            <a:endParaRPr lang="en-IN" sz="2000" dirty="0"/>
          </a:p>
        </p:txBody>
      </p:sp>
    </p:spTree>
    <p:extLst>
      <p:ext uri="{BB962C8B-B14F-4D97-AF65-F5344CB8AC3E}">
        <p14:creationId xmlns:p14="http://schemas.microsoft.com/office/powerpoint/2010/main" val="20593032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7577" y="167425"/>
            <a:ext cx="11758412" cy="64523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63639" y="980460"/>
            <a:ext cx="11346287" cy="5115311"/>
          </a:xfrm>
          <a:prstGeom prst="rect">
            <a:avLst/>
          </a:prstGeom>
          <a:noFill/>
        </p:spPr>
        <p:txBody>
          <a:bodyPr wrap="square" rtlCol="0">
            <a:spAutoFit/>
          </a:bodyPr>
          <a:lstStyle/>
          <a:p>
            <a:pPr algn="just">
              <a:lnSpc>
                <a:spcPct val="150000"/>
              </a:lnSpc>
            </a:pPr>
            <a:r>
              <a:rPr lang="en-IN" sz="2000" dirty="0"/>
              <a:t>Diabetic retinopathy is a serious complication of Diabetes Mellitus and a leading cause of vision loss if not detected early. This project presents a web-based system for automatic detection using deep learning integrated with a Federated Learning approach. The system is developed using the Flask framework with features such as user registration, login, image upload, and real-time prediction. A Convolutional Neural Network (CNN) is used for feature extraction and classification of retinal fundus images into diabetic and non-diabetic categories. The model is trained using the Mendeley Data dataset to ensure accuracy and reliability. Federated Learning enables decentralized model training across multiple clients without sharing sensitive data, ensuring privacy. The system aggregates locally trained models to improve overall prediction performance. It provides a simple and user-friendly interface for easy image upload and instant results. The proposed system supports early diagnosis and assists healthcare professionals in screening. Overall, it offers an efficient, scalable, and privacy-preserving solution for diabetic retinopathy detection.</a:t>
            </a:r>
          </a:p>
        </p:txBody>
      </p:sp>
      <p:sp>
        <p:nvSpPr>
          <p:cNvPr id="4" name="TextBox 3"/>
          <p:cNvSpPr txBox="1"/>
          <p:nvPr/>
        </p:nvSpPr>
        <p:spPr>
          <a:xfrm>
            <a:off x="5262343" y="453334"/>
            <a:ext cx="2693096" cy="400110"/>
          </a:xfrm>
          <a:prstGeom prst="rect">
            <a:avLst/>
          </a:prstGeom>
          <a:noFill/>
        </p:spPr>
        <p:txBody>
          <a:bodyPr wrap="square" rtlCol="0">
            <a:spAutoFit/>
          </a:bodyPr>
          <a:lstStyle/>
          <a:p>
            <a:r>
              <a:rPr lang="en-US" sz="2000" b="1" dirty="0" smtClean="0"/>
              <a:t>ABSTRACT</a:t>
            </a:r>
            <a:endParaRPr lang="en-IN" sz="2000" b="1" dirty="0"/>
          </a:p>
        </p:txBody>
      </p:sp>
    </p:spTree>
    <p:extLst>
      <p:ext uri="{BB962C8B-B14F-4D97-AF65-F5344CB8AC3E}">
        <p14:creationId xmlns:p14="http://schemas.microsoft.com/office/powerpoint/2010/main" val="35295812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729640" y="1464149"/>
            <a:ext cx="10753595" cy="3785652"/>
          </a:xfrm>
          <a:prstGeom prst="rect">
            <a:avLst/>
          </a:prstGeom>
          <a:noFill/>
        </p:spPr>
        <p:txBody>
          <a:bodyPr wrap="square" rtlCol="0">
            <a:spAutoFit/>
          </a:bodyPr>
          <a:lstStyle/>
          <a:p>
            <a:pPr algn="just">
              <a:lnSpc>
                <a:spcPct val="150000"/>
              </a:lnSpc>
            </a:pPr>
            <a:r>
              <a:rPr lang="en-IN" sz="2000" dirty="0"/>
              <a:t>Diabetic retinopathy is a major eye disease caused by prolonged diabetes and is one of the leading causes of blindness worldwide. Early detection and timely treatment are essential to prevent severe vision loss. Traditional diagnostic methods require expert ophthalmologists and can be time-consuming and costly. With the advancement of artificial intelligence, deep learning techniques have shown promising results in medical image analysis. Convolutional Neural Networks (CNNs) are widely used for extracting important features from retinal images and improving classification accuracy. However, handling sensitive medical data raises privacy concerns when training centralized models. To address this issue, Federated Learning enables decentralized model training without sharing raw data. </a:t>
            </a:r>
            <a:endParaRPr lang="en-IN" dirty="0"/>
          </a:p>
        </p:txBody>
      </p:sp>
      <p:sp>
        <p:nvSpPr>
          <p:cNvPr id="4" name="TextBox 3"/>
          <p:cNvSpPr txBox="1"/>
          <p:nvPr/>
        </p:nvSpPr>
        <p:spPr>
          <a:xfrm>
            <a:off x="5210827" y="739242"/>
            <a:ext cx="2693096" cy="400110"/>
          </a:xfrm>
          <a:prstGeom prst="rect">
            <a:avLst/>
          </a:prstGeom>
          <a:noFill/>
        </p:spPr>
        <p:txBody>
          <a:bodyPr wrap="square" rtlCol="0">
            <a:spAutoFit/>
          </a:bodyPr>
          <a:lstStyle/>
          <a:p>
            <a:r>
              <a:rPr lang="en-US" sz="2000" dirty="0" smtClean="0"/>
              <a:t>OVERVIEW</a:t>
            </a:r>
            <a:endParaRPr lang="en-IN" sz="2000" dirty="0"/>
          </a:p>
        </p:txBody>
      </p:sp>
    </p:spTree>
    <p:extLst>
      <p:ext uri="{BB962C8B-B14F-4D97-AF65-F5344CB8AC3E}">
        <p14:creationId xmlns:p14="http://schemas.microsoft.com/office/powerpoint/2010/main" val="17729805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750436" y="1192298"/>
            <a:ext cx="10712003" cy="4708981"/>
          </a:xfrm>
          <a:prstGeom prst="rect">
            <a:avLst/>
          </a:prstGeom>
          <a:noFill/>
        </p:spPr>
        <p:txBody>
          <a:bodyPr wrap="square" rtlCol="0">
            <a:spAutoFit/>
          </a:bodyPr>
          <a:lstStyle/>
          <a:p>
            <a:pPr marL="342900" lvl="0" indent="-342900" algn="just">
              <a:lnSpc>
                <a:spcPct val="150000"/>
              </a:lnSpc>
              <a:buFont typeface="Arial" panose="020B0604020202020204" pitchFamily="34" charset="0"/>
              <a:buChar char="•"/>
            </a:pPr>
            <a:r>
              <a:rPr lang="en-GB" sz="2000" dirty="0"/>
              <a:t>To develop an automated detection system for diabetic retinopathy – Enables automatic identification of diabetic retinopathy from retinal images for faster diagnosis.</a:t>
            </a:r>
          </a:p>
          <a:p>
            <a:pPr marL="342900" lvl="0" indent="-342900" algn="just">
              <a:lnSpc>
                <a:spcPct val="150000"/>
              </a:lnSpc>
              <a:buFont typeface="Arial" panose="020B0604020202020204" pitchFamily="34" charset="0"/>
              <a:buChar char="•"/>
            </a:pPr>
            <a:r>
              <a:rPr lang="en-GB" sz="2000" dirty="0"/>
              <a:t>To utilize Convolutional Neural Networks (CNN) for feature extraction and classification – Uses CNN to extract image features and accurately classify disease presence.</a:t>
            </a:r>
          </a:p>
          <a:p>
            <a:pPr marL="342900" lvl="0" indent="-342900" algn="just">
              <a:lnSpc>
                <a:spcPct val="150000"/>
              </a:lnSpc>
              <a:buFont typeface="Arial" panose="020B0604020202020204" pitchFamily="34" charset="0"/>
              <a:buChar char="•"/>
            </a:pPr>
            <a:r>
              <a:rPr lang="en-GB" sz="2000" dirty="0"/>
              <a:t>To implement Federated Learning for privacy-preserving model training – Ensures secure and decentralized model training without sharing sensitive data.</a:t>
            </a:r>
          </a:p>
          <a:p>
            <a:pPr marL="342900" lvl="0" indent="-342900" algn="just">
              <a:lnSpc>
                <a:spcPct val="150000"/>
              </a:lnSpc>
              <a:buFont typeface="Arial" panose="020B0604020202020204" pitchFamily="34" charset="0"/>
              <a:buChar char="•"/>
            </a:pPr>
            <a:r>
              <a:rPr lang="en-GB" sz="2000" dirty="0"/>
              <a:t>To design a user-friendly web application using Flask – Provides an easy interface for users to upload images and view results.</a:t>
            </a:r>
          </a:p>
          <a:p>
            <a:pPr marL="342900" lvl="0" indent="-342900" algn="just">
              <a:lnSpc>
                <a:spcPct val="150000"/>
              </a:lnSpc>
              <a:buFont typeface="Arial" panose="020B0604020202020204" pitchFamily="34" charset="0"/>
              <a:buChar char="•"/>
            </a:pPr>
            <a:r>
              <a:rPr lang="en-GB" sz="2000" dirty="0"/>
              <a:t>To enable real-time prediction and faster diagnosis – Delivers instant results to support quick medical decisions.</a:t>
            </a:r>
            <a:endParaRPr lang="en-IN" dirty="0"/>
          </a:p>
        </p:txBody>
      </p:sp>
      <p:sp>
        <p:nvSpPr>
          <p:cNvPr id="4" name="TextBox 3"/>
          <p:cNvSpPr txBox="1"/>
          <p:nvPr/>
        </p:nvSpPr>
        <p:spPr>
          <a:xfrm>
            <a:off x="4571294" y="687313"/>
            <a:ext cx="3657600" cy="400110"/>
          </a:xfrm>
          <a:prstGeom prst="rect">
            <a:avLst/>
          </a:prstGeom>
          <a:noFill/>
        </p:spPr>
        <p:txBody>
          <a:bodyPr wrap="square" rtlCol="0">
            <a:spAutoFit/>
          </a:bodyPr>
          <a:lstStyle/>
          <a:p>
            <a:r>
              <a:rPr lang="en-US" sz="2000" b="1" dirty="0" smtClean="0"/>
              <a:t>PROJECT OBJECTIVES</a:t>
            </a:r>
            <a:endParaRPr lang="en-IN" sz="2000" b="1" dirty="0"/>
          </a:p>
        </p:txBody>
      </p:sp>
    </p:spTree>
    <p:extLst>
      <p:ext uri="{BB962C8B-B14F-4D97-AF65-F5344CB8AC3E}">
        <p14:creationId xmlns:p14="http://schemas.microsoft.com/office/powerpoint/2010/main" val="11994662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746975" y="1111591"/>
            <a:ext cx="10458911" cy="4439933"/>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GB" dirty="0" err="1"/>
              <a:t>IDx</a:t>
            </a:r>
            <a:r>
              <a:rPr lang="en-GB" dirty="0"/>
              <a:t>-DR – An FDA-approved AI system that detects diabetic retinopathy automatically but relies on centralized clinical infrastructure.</a:t>
            </a:r>
          </a:p>
          <a:p>
            <a:pPr marL="285750" indent="-285750">
              <a:lnSpc>
                <a:spcPct val="200000"/>
              </a:lnSpc>
              <a:buFont typeface="Arial" panose="020B0604020202020204" pitchFamily="34" charset="0"/>
              <a:buChar char="•"/>
            </a:pPr>
            <a:r>
              <a:rPr lang="en-GB" dirty="0" err="1"/>
              <a:t>EyeAI</a:t>
            </a:r>
            <a:r>
              <a:rPr lang="en-GB" dirty="0"/>
              <a:t> – A web-based CNN application for detecting multiple eye diseases with moderate accuracy but limited privacy features.</a:t>
            </a:r>
          </a:p>
          <a:p>
            <a:pPr marL="285750" indent="-285750">
              <a:lnSpc>
                <a:spcPct val="200000"/>
              </a:lnSpc>
              <a:buFont typeface="Arial" panose="020B0604020202020204" pitchFamily="34" charset="0"/>
              <a:buChar char="•"/>
            </a:pPr>
            <a:r>
              <a:rPr lang="en-GB" dirty="0"/>
              <a:t>AIDRSS – A large-scale screening system in India that classifies multiple stages of diabetic retinopathy using deep learning.</a:t>
            </a:r>
          </a:p>
          <a:p>
            <a:pPr marL="285750" indent="-285750">
              <a:lnSpc>
                <a:spcPct val="200000"/>
              </a:lnSpc>
              <a:buFont typeface="Arial" panose="020B0604020202020204" pitchFamily="34" charset="0"/>
              <a:buChar char="•"/>
            </a:pPr>
            <a:r>
              <a:rPr lang="en-GB" dirty="0" err="1"/>
              <a:t>PerceptronCARE</a:t>
            </a:r>
            <a:r>
              <a:rPr lang="en-GB" dirty="0"/>
              <a:t> – A telemedicine-based platform that provides real-time diagnosis using CNN but depends on centralized cloud storage</a:t>
            </a:r>
            <a:r>
              <a:rPr lang="en-GB" dirty="0" smtClean="0"/>
              <a:t>.</a:t>
            </a:r>
            <a:endParaRPr lang="en-GB" dirty="0"/>
          </a:p>
        </p:txBody>
      </p:sp>
      <p:sp>
        <p:nvSpPr>
          <p:cNvPr id="3" name="TextBox 2"/>
          <p:cNvSpPr txBox="1"/>
          <p:nvPr/>
        </p:nvSpPr>
        <p:spPr>
          <a:xfrm>
            <a:off x="4597052" y="742259"/>
            <a:ext cx="3206663" cy="369332"/>
          </a:xfrm>
          <a:prstGeom prst="rect">
            <a:avLst/>
          </a:prstGeom>
          <a:noFill/>
        </p:spPr>
        <p:txBody>
          <a:bodyPr wrap="square" rtlCol="0">
            <a:spAutoFit/>
          </a:bodyPr>
          <a:lstStyle/>
          <a:p>
            <a:r>
              <a:rPr lang="en-US" b="1" dirty="0" smtClean="0"/>
              <a:t>EXISTING SYSTEM</a:t>
            </a:r>
            <a:endParaRPr lang="en-IN" b="1" dirty="0"/>
          </a:p>
        </p:txBody>
      </p:sp>
    </p:spTree>
    <p:extLst>
      <p:ext uri="{BB962C8B-B14F-4D97-AF65-F5344CB8AC3E}">
        <p14:creationId xmlns:p14="http://schemas.microsoft.com/office/powerpoint/2010/main" val="8967809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8941" y="154547"/>
            <a:ext cx="11745532" cy="6503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553792" y="1375450"/>
            <a:ext cx="11410681" cy="4439933"/>
          </a:xfrm>
          <a:prstGeom prst="rect">
            <a:avLst/>
          </a:prstGeom>
          <a:noFill/>
        </p:spPr>
        <p:txBody>
          <a:bodyPr wrap="square" rtlCol="0">
            <a:spAutoFit/>
          </a:bodyPr>
          <a:lstStyle/>
          <a:p>
            <a:pPr marL="285750" indent="-285750" algn="just">
              <a:lnSpc>
                <a:spcPct val="200000"/>
              </a:lnSpc>
              <a:buFont typeface="Arial" panose="020B0604020202020204" pitchFamily="34" charset="0"/>
              <a:buChar char="•"/>
            </a:pPr>
            <a:r>
              <a:rPr lang="en-GB" dirty="0"/>
              <a:t>Lack of Data Privacy – Solved by Federated Learning, keeping patient data secure on local devices.</a:t>
            </a:r>
          </a:p>
          <a:p>
            <a:pPr marL="285750" indent="-285750" algn="just">
              <a:lnSpc>
                <a:spcPct val="200000"/>
              </a:lnSpc>
              <a:buFont typeface="Arial" panose="020B0604020202020204" pitchFamily="34" charset="0"/>
              <a:buChar char="•"/>
            </a:pPr>
            <a:r>
              <a:rPr lang="en-GB" dirty="0"/>
              <a:t>Dependency on Centralized Infrastructure – Reduced through decentralized training, improving system reliability.</a:t>
            </a:r>
          </a:p>
          <a:p>
            <a:pPr marL="285750" indent="-285750" algn="just">
              <a:lnSpc>
                <a:spcPct val="200000"/>
              </a:lnSpc>
              <a:buFont typeface="Arial" panose="020B0604020202020204" pitchFamily="34" charset="0"/>
              <a:buChar char="•"/>
            </a:pPr>
            <a:r>
              <a:rPr lang="en-GB" dirty="0"/>
              <a:t>Limited Accessibility – Overcome by providing a web-based Flask application accessible to all users.</a:t>
            </a:r>
          </a:p>
          <a:p>
            <a:pPr marL="285750" indent="-285750" algn="just">
              <a:lnSpc>
                <a:spcPct val="200000"/>
              </a:lnSpc>
              <a:buFont typeface="Arial" panose="020B0604020202020204" pitchFamily="34" charset="0"/>
              <a:buChar char="•"/>
            </a:pPr>
            <a:r>
              <a:rPr lang="en-GB" dirty="0"/>
              <a:t>High Cost of Implementation – Minimized using open-source technologies for an affordable solution.</a:t>
            </a:r>
          </a:p>
          <a:p>
            <a:pPr marL="285750" indent="-285750" algn="just">
              <a:lnSpc>
                <a:spcPct val="200000"/>
              </a:lnSpc>
              <a:buFont typeface="Arial" panose="020B0604020202020204" pitchFamily="34" charset="0"/>
              <a:buChar char="•"/>
            </a:pPr>
            <a:r>
              <a:rPr lang="en-GB" dirty="0"/>
              <a:t>Lack of Real-Time Prediction – Addressed by enabling instant image analysis and quick results.</a:t>
            </a:r>
          </a:p>
          <a:p>
            <a:pPr marL="285750" indent="-285750" algn="just">
              <a:lnSpc>
                <a:spcPct val="200000"/>
              </a:lnSpc>
              <a:buFont typeface="Arial" panose="020B0604020202020204" pitchFamily="34" charset="0"/>
              <a:buChar char="•"/>
            </a:pPr>
            <a:r>
              <a:rPr lang="en-GB" dirty="0"/>
              <a:t>Poor Scalability – Improved by distributing training across multiple clients using Federated Learning.</a:t>
            </a:r>
          </a:p>
          <a:p>
            <a:pPr marL="285750" indent="-285750" algn="just">
              <a:lnSpc>
                <a:spcPct val="200000"/>
              </a:lnSpc>
              <a:buFont typeface="Arial" panose="020B0604020202020204" pitchFamily="34" charset="0"/>
              <a:buChar char="•"/>
            </a:pPr>
            <a:r>
              <a:rPr lang="en-GB" dirty="0"/>
              <a:t>Limited Model Generalization – Enhanced by learning from diverse decentralized datasets.</a:t>
            </a:r>
          </a:p>
          <a:p>
            <a:pPr marL="285750" indent="-285750" algn="just">
              <a:lnSpc>
                <a:spcPct val="200000"/>
              </a:lnSpc>
              <a:buFont typeface="Arial" panose="020B0604020202020204" pitchFamily="34" charset="0"/>
              <a:buChar char="•"/>
            </a:pPr>
            <a:r>
              <a:rPr lang="en-GB" dirty="0"/>
              <a:t>Complex User Interfaces – Simplified with an easy-to-use and user-friendly interface.</a:t>
            </a:r>
            <a:endParaRPr lang="en-US" dirty="0"/>
          </a:p>
        </p:txBody>
      </p:sp>
      <p:sp>
        <p:nvSpPr>
          <p:cNvPr id="4" name="TextBox 3"/>
          <p:cNvSpPr txBox="1"/>
          <p:nvPr/>
        </p:nvSpPr>
        <p:spPr>
          <a:xfrm>
            <a:off x="3194137" y="659683"/>
            <a:ext cx="6281802" cy="400110"/>
          </a:xfrm>
          <a:prstGeom prst="rect">
            <a:avLst/>
          </a:prstGeom>
          <a:noFill/>
        </p:spPr>
        <p:txBody>
          <a:bodyPr wrap="square" rtlCol="0">
            <a:spAutoFit/>
          </a:bodyPr>
          <a:lstStyle/>
          <a:p>
            <a:r>
              <a:rPr lang="en-US" sz="2000" b="1" dirty="0" smtClean="0"/>
              <a:t>DISADVANTAGES OF THE EXISTING SYSTEM </a:t>
            </a:r>
            <a:endParaRPr lang="en-IN" sz="2000" b="1" dirty="0"/>
          </a:p>
        </p:txBody>
      </p:sp>
    </p:spTree>
    <p:extLst>
      <p:ext uri="{BB962C8B-B14F-4D97-AF65-F5344CB8AC3E}">
        <p14:creationId xmlns:p14="http://schemas.microsoft.com/office/powerpoint/2010/main" val="41582046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1819" y="218940"/>
            <a:ext cx="11784170" cy="64265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405684" y="1094816"/>
            <a:ext cx="11436440" cy="5115311"/>
          </a:xfrm>
          <a:prstGeom prst="rect">
            <a:avLst/>
          </a:prstGeom>
          <a:noFill/>
        </p:spPr>
        <p:txBody>
          <a:bodyPr wrap="square" rtlCol="0">
            <a:spAutoFit/>
          </a:bodyPr>
          <a:lstStyle/>
          <a:p>
            <a:pPr algn="just">
              <a:lnSpc>
                <a:spcPct val="150000"/>
              </a:lnSpc>
            </a:pPr>
            <a:r>
              <a:rPr lang="en-IN" sz="2000" dirty="0"/>
              <a:t>The proposed system is a web-based application designed for the automatic detection of diabetic retinopathy using deep learning and Federated Learning techniques. It is developed using the Flask framework to provide an easy and accessible interface for users. The system allows users to register, log in, and upload retinal fundus images for analysis. A Convolutional Neural Network (CNN) is used for feature extraction and classification of images into diabetic and non-diabetic categories. Federated Learning is implemented to enable decentralized model training without sharing sensitive medical data. This ensures data privacy and security while improving model performance through collaborative learning. The system aggregates locally trained models to generate a global model for accurate prediction. It provides real-time results, helping in early diagnosis and reducing the risk of vision loss. The application is designed to be user-friendly and accessible even in remote areas. Overall, the proposed system offers an efficient, scalable, and privacy-preserving solution for diabetic retinopathy detection.</a:t>
            </a:r>
          </a:p>
        </p:txBody>
      </p:sp>
      <p:sp>
        <p:nvSpPr>
          <p:cNvPr id="3" name="TextBox 2"/>
          <p:cNvSpPr txBox="1"/>
          <p:nvPr/>
        </p:nvSpPr>
        <p:spPr>
          <a:xfrm>
            <a:off x="4874742" y="472212"/>
            <a:ext cx="3206663" cy="369332"/>
          </a:xfrm>
          <a:prstGeom prst="rect">
            <a:avLst/>
          </a:prstGeom>
          <a:noFill/>
        </p:spPr>
        <p:txBody>
          <a:bodyPr wrap="square" rtlCol="0">
            <a:spAutoFit/>
          </a:bodyPr>
          <a:lstStyle/>
          <a:p>
            <a:r>
              <a:rPr lang="en-US" b="1" dirty="0" smtClean="0"/>
              <a:t>PROPOSED SYSTEM</a:t>
            </a:r>
            <a:endParaRPr lang="en-IN" b="1" dirty="0"/>
          </a:p>
        </p:txBody>
      </p:sp>
    </p:spTree>
    <p:extLst>
      <p:ext uri="{BB962C8B-B14F-4D97-AF65-F5344CB8AC3E}">
        <p14:creationId xmlns:p14="http://schemas.microsoft.com/office/powerpoint/2010/main" val="19725942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666332" y="1673693"/>
            <a:ext cx="10880212" cy="336656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GB" dirty="0"/>
              <a:t>Enhanced Data Privacy and Security – Protects sensitive data by keeping it on local devices using Federated Learning.</a:t>
            </a:r>
          </a:p>
          <a:p>
            <a:pPr marL="285750" indent="-285750" algn="just">
              <a:lnSpc>
                <a:spcPct val="150000"/>
              </a:lnSpc>
              <a:buFont typeface="Arial" panose="020B0604020202020204" pitchFamily="34" charset="0"/>
              <a:buChar char="•"/>
            </a:pPr>
            <a:r>
              <a:rPr lang="en-GB" dirty="0"/>
              <a:t>Decentralized Model Training – Enables distributed training across multiple clients without relying on a central server.</a:t>
            </a:r>
          </a:p>
          <a:p>
            <a:pPr marL="285750" indent="-285750" algn="just">
              <a:lnSpc>
                <a:spcPct val="150000"/>
              </a:lnSpc>
              <a:buFont typeface="Arial" panose="020B0604020202020204" pitchFamily="34" charset="0"/>
              <a:buChar char="•"/>
            </a:pPr>
            <a:r>
              <a:rPr lang="en-GB" dirty="0"/>
              <a:t>Improved Model Accuracy and Generalization – Enhances performance by learning from diverse datasets.</a:t>
            </a:r>
          </a:p>
          <a:p>
            <a:pPr marL="285750" indent="-285750" algn="just">
              <a:lnSpc>
                <a:spcPct val="150000"/>
              </a:lnSpc>
              <a:buFont typeface="Arial" panose="020B0604020202020204" pitchFamily="34" charset="0"/>
              <a:buChar char="•"/>
            </a:pPr>
            <a:r>
              <a:rPr lang="en-GB" dirty="0"/>
              <a:t>Real-Time Prediction – Provides instant results for faster diagnosis and decision-making.</a:t>
            </a:r>
          </a:p>
          <a:p>
            <a:pPr marL="285750" indent="-285750" algn="just">
              <a:lnSpc>
                <a:spcPct val="150000"/>
              </a:lnSpc>
              <a:buFont typeface="Arial" panose="020B0604020202020204" pitchFamily="34" charset="0"/>
              <a:buChar char="•"/>
            </a:pPr>
            <a:r>
              <a:rPr lang="en-GB" dirty="0"/>
              <a:t>User-Friendly Web Interface – Offers a simple and easy-to-use platform for all users.</a:t>
            </a:r>
          </a:p>
          <a:p>
            <a:pPr marL="285750" indent="-285750" algn="just">
              <a:lnSpc>
                <a:spcPct val="150000"/>
              </a:lnSpc>
              <a:buFont typeface="Arial" panose="020B0604020202020204" pitchFamily="34" charset="0"/>
              <a:buChar char="•"/>
            </a:pPr>
            <a:r>
              <a:rPr lang="en-GB" dirty="0"/>
              <a:t>Cost-Effective Solution – Reduces cost by using open-source tools and minimal infrastructure.</a:t>
            </a:r>
            <a:endParaRPr lang="en-US" dirty="0"/>
          </a:p>
        </p:txBody>
      </p:sp>
      <p:sp>
        <p:nvSpPr>
          <p:cNvPr id="3" name="TextBox 2"/>
          <p:cNvSpPr txBox="1"/>
          <p:nvPr/>
        </p:nvSpPr>
        <p:spPr>
          <a:xfrm>
            <a:off x="4058080" y="746135"/>
            <a:ext cx="4722313" cy="369332"/>
          </a:xfrm>
          <a:prstGeom prst="rect">
            <a:avLst/>
          </a:prstGeom>
          <a:noFill/>
        </p:spPr>
        <p:txBody>
          <a:bodyPr wrap="square" rtlCol="0">
            <a:spAutoFit/>
          </a:bodyPr>
          <a:lstStyle/>
          <a:p>
            <a:r>
              <a:rPr lang="en-US" b="1" dirty="0" smtClean="0"/>
              <a:t>ADVANTAGES OF PROPOSED SYSTEM</a:t>
            </a:r>
            <a:endParaRPr lang="en-IN" b="1" dirty="0"/>
          </a:p>
        </p:txBody>
      </p:sp>
    </p:spTree>
    <p:extLst>
      <p:ext uri="{BB962C8B-B14F-4D97-AF65-F5344CB8AC3E}">
        <p14:creationId xmlns:p14="http://schemas.microsoft.com/office/powerpoint/2010/main" val="6912192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6215" y="193183"/>
            <a:ext cx="11578106" cy="64136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1014608" y="851770"/>
            <a:ext cx="2906039" cy="369332"/>
          </a:xfrm>
          <a:prstGeom prst="rect">
            <a:avLst/>
          </a:prstGeom>
          <a:noFill/>
        </p:spPr>
        <p:txBody>
          <a:bodyPr wrap="square" rtlCol="0">
            <a:spAutoFit/>
          </a:bodyPr>
          <a:lstStyle/>
          <a:p>
            <a:r>
              <a:rPr lang="en-US" dirty="0" smtClean="0"/>
              <a:t>USECASE DIAGRAM</a:t>
            </a:r>
            <a:endParaRPr lang="en-IN" dirty="0"/>
          </a:p>
        </p:txBody>
      </p:sp>
      <p:pic>
        <p:nvPicPr>
          <p:cNvPr id="7" name="Picture 6" descr="C:\Users\EGC02158\Downloads\NOyn2uD038LtmVyGdEhWNoWEBeKEnQ9xwgLduBoJNAH8wN-lLwUwFCXxUVb87HL5bydbcQEdWWOGjgE2OQ51EVWyopCSD0XqaIHDAK1l7K7HC3v8UO1sKnzcr765XdIlmdsDIbC1xrI3tm6egZESMhAyHLB-szTWsH-yRdO1pGv01vS9BHrMUgONt8GCxzYMukAqJD1FafgysLxy0W0.png"/>
          <p:cNvPicPr/>
          <p:nvPr/>
        </p:nvPicPr>
        <p:blipFill>
          <a:blip r:embed="rId2">
            <a:extLst>
              <a:ext uri="{28A0092B-C50C-407E-A947-70E740481C1C}">
                <a14:useLocalDpi xmlns:a14="http://schemas.microsoft.com/office/drawing/2010/main" val="0"/>
              </a:ext>
            </a:extLst>
          </a:blip>
          <a:srcRect/>
          <a:stretch>
            <a:fillRect/>
          </a:stretch>
        </p:blipFill>
        <p:spPr bwMode="auto">
          <a:xfrm>
            <a:off x="5721622" y="1221102"/>
            <a:ext cx="3976169" cy="3839058"/>
          </a:xfrm>
          <a:prstGeom prst="rect">
            <a:avLst/>
          </a:prstGeom>
          <a:noFill/>
          <a:ln>
            <a:noFill/>
          </a:ln>
        </p:spPr>
      </p:pic>
    </p:spTree>
    <p:extLst>
      <p:ext uri="{BB962C8B-B14F-4D97-AF65-F5344CB8AC3E}">
        <p14:creationId xmlns:p14="http://schemas.microsoft.com/office/powerpoint/2010/main" val="13137223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814192" y="839244"/>
            <a:ext cx="3532340" cy="369332"/>
          </a:xfrm>
          <a:prstGeom prst="rect">
            <a:avLst/>
          </a:prstGeom>
          <a:noFill/>
        </p:spPr>
        <p:txBody>
          <a:bodyPr wrap="square" rtlCol="0">
            <a:spAutoFit/>
          </a:bodyPr>
          <a:lstStyle/>
          <a:p>
            <a:r>
              <a:rPr lang="en-US" dirty="0" smtClean="0"/>
              <a:t>ARCHITECTURE DIAGRAM</a:t>
            </a:r>
            <a:endParaRPr lang="en-IN" dirty="0"/>
          </a:p>
        </p:txBody>
      </p:sp>
      <p:pic>
        <p:nvPicPr>
          <p:cNvPr id="6" name="Picture 5" descr="C:\Users\EGC02158\Downloads\TPB1IWCn48Rl2_iEGq_sq5UG5aKer29gyJmcOmYTdOH9UYZYkxjfwDfkrrEOV_xvyW_9CcNKVEYuRTBUIqJ53apeOX2I_9QFJA1aCefZQfksGPE3mYwHbggSi5ZSmzq7VS9QCkaN6fgNtZ06ioV6j8TYMSN8tc3sGMRmtJOmdgoqTOUEO1Sve9sVN5TADRqeHGs6KlBYgkjQghQ7xHQ.png"/>
          <p:cNvPicPr/>
          <p:nvPr/>
        </p:nvPicPr>
        <p:blipFill>
          <a:blip r:embed="rId2">
            <a:extLst>
              <a:ext uri="{28A0092B-C50C-407E-A947-70E740481C1C}">
                <a14:useLocalDpi xmlns:a14="http://schemas.microsoft.com/office/drawing/2010/main" val="0"/>
              </a:ext>
            </a:extLst>
          </a:blip>
          <a:srcRect/>
          <a:stretch>
            <a:fillRect/>
          </a:stretch>
        </p:blipFill>
        <p:spPr bwMode="auto">
          <a:xfrm>
            <a:off x="5429836" y="578110"/>
            <a:ext cx="4834627" cy="5346172"/>
          </a:xfrm>
          <a:prstGeom prst="rect">
            <a:avLst/>
          </a:prstGeom>
          <a:noFill/>
          <a:ln>
            <a:noFill/>
          </a:ln>
        </p:spPr>
      </p:pic>
    </p:spTree>
    <p:extLst>
      <p:ext uri="{BB962C8B-B14F-4D97-AF65-F5344CB8AC3E}">
        <p14:creationId xmlns:p14="http://schemas.microsoft.com/office/powerpoint/2010/main" val="28195180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989556" y="786102"/>
            <a:ext cx="2605414" cy="369332"/>
          </a:xfrm>
          <a:prstGeom prst="rect">
            <a:avLst/>
          </a:prstGeom>
          <a:noFill/>
        </p:spPr>
        <p:txBody>
          <a:bodyPr wrap="square" rtlCol="0">
            <a:spAutoFit/>
          </a:bodyPr>
          <a:lstStyle/>
          <a:p>
            <a:r>
              <a:rPr lang="en-US" dirty="0" smtClean="0"/>
              <a:t>FLOW DIAGRAM</a:t>
            </a:r>
            <a:endParaRPr lang="en-IN" dirty="0"/>
          </a:p>
        </p:txBody>
      </p:sp>
      <p:pic>
        <p:nvPicPr>
          <p:cNvPr id="5" name="Picture 4"/>
          <p:cNvPicPr/>
          <p:nvPr/>
        </p:nvPicPr>
        <p:blipFill>
          <a:blip r:embed="rId2"/>
          <a:stretch>
            <a:fillRect/>
          </a:stretch>
        </p:blipFill>
        <p:spPr>
          <a:xfrm>
            <a:off x="8737421" y="786102"/>
            <a:ext cx="2006600" cy="4920615"/>
          </a:xfrm>
          <a:prstGeom prst="rect">
            <a:avLst/>
          </a:prstGeom>
        </p:spPr>
      </p:pic>
    </p:spTree>
    <p:extLst>
      <p:ext uri="{BB962C8B-B14F-4D97-AF65-F5344CB8AC3E}">
        <p14:creationId xmlns:p14="http://schemas.microsoft.com/office/powerpoint/2010/main" val="8044697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939452" y="717208"/>
            <a:ext cx="2642992" cy="369332"/>
          </a:xfrm>
          <a:prstGeom prst="rect">
            <a:avLst/>
          </a:prstGeom>
          <a:noFill/>
        </p:spPr>
        <p:txBody>
          <a:bodyPr wrap="square" rtlCol="0">
            <a:spAutoFit/>
          </a:bodyPr>
          <a:lstStyle/>
          <a:p>
            <a:r>
              <a:rPr lang="en-US" dirty="0" smtClean="0"/>
              <a:t>ER DIAGRAM</a:t>
            </a:r>
            <a:endParaRPr lang="en-IN" dirty="0"/>
          </a:p>
        </p:txBody>
      </p:sp>
      <p:pic>
        <p:nvPicPr>
          <p:cNvPr id="6" name="Picture 5" descr="C:\Users\EGC02158\Downloads\7OnR2e0W403_znGU9Ua1GL147K1qiGLRGxUFYEwUzJS3mrHPJ1Ax8GCW2ycbcdvkwsMSrGrAhHdJ43rnuVC8qJZQZSTY7JeTV84feICh5Bz6imcNaCtm0425xFxt2m00.png"/>
          <p:cNvPicPr/>
          <p:nvPr/>
        </p:nvPicPr>
        <p:blipFill>
          <a:blip r:embed="rId2">
            <a:extLst>
              <a:ext uri="{28A0092B-C50C-407E-A947-70E740481C1C}">
                <a14:useLocalDpi xmlns:a14="http://schemas.microsoft.com/office/drawing/2010/main" val="0"/>
              </a:ext>
            </a:extLst>
          </a:blip>
          <a:srcRect/>
          <a:stretch>
            <a:fillRect/>
          </a:stretch>
        </p:blipFill>
        <p:spPr bwMode="auto">
          <a:xfrm>
            <a:off x="2906533" y="2315339"/>
            <a:ext cx="6791258" cy="2398328"/>
          </a:xfrm>
          <a:prstGeom prst="rect">
            <a:avLst/>
          </a:prstGeom>
          <a:noFill/>
          <a:ln>
            <a:noFill/>
          </a:ln>
        </p:spPr>
      </p:pic>
    </p:spTree>
    <p:extLst>
      <p:ext uri="{BB962C8B-B14F-4D97-AF65-F5344CB8AC3E}">
        <p14:creationId xmlns:p14="http://schemas.microsoft.com/office/powerpoint/2010/main" val="38681344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1102290" y="901874"/>
            <a:ext cx="2642992" cy="369332"/>
          </a:xfrm>
          <a:prstGeom prst="rect">
            <a:avLst/>
          </a:prstGeom>
          <a:noFill/>
        </p:spPr>
        <p:txBody>
          <a:bodyPr wrap="square" rtlCol="0">
            <a:spAutoFit/>
          </a:bodyPr>
          <a:lstStyle/>
          <a:p>
            <a:r>
              <a:rPr lang="en-US" dirty="0" smtClean="0"/>
              <a:t>SEQUENCE DIAGRAM</a:t>
            </a:r>
            <a:endParaRPr lang="en-IN" dirty="0"/>
          </a:p>
        </p:txBody>
      </p:sp>
      <p:pic>
        <p:nvPicPr>
          <p:cNvPr id="6" name="Picture 5" descr="C:\Users\EGC02158\Downloads\NP51ImCn48NlWVo7eISzIEyzI8ko8An5geldSJE4mJG9oVJGV-zij47s5jxtCkyDiw-2HIxdO8qrE4igC5KgrcILUUQCKM3pILzmo1dkXe3r-tu3M46rbUlfU8JNv2Wqtbuhnq2E2Wev60bBvEYRTHYNz2KN7XwNmR234tckeieMnkGvhlcKGqAdDk680LxEwCcQXNNBMw5Sqaorhd2.png"/>
          <p:cNvPicPr/>
          <p:nvPr/>
        </p:nvPicPr>
        <p:blipFill>
          <a:blip r:embed="rId2">
            <a:extLst>
              <a:ext uri="{28A0092B-C50C-407E-A947-70E740481C1C}">
                <a14:useLocalDpi xmlns:a14="http://schemas.microsoft.com/office/drawing/2010/main" val="0"/>
              </a:ext>
            </a:extLst>
          </a:blip>
          <a:srcRect/>
          <a:stretch>
            <a:fillRect/>
          </a:stretch>
        </p:blipFill>
        <p:spPr bwMode="auto">
          <a:xfrm>
            <a:off x="4142378" y="1417995"/>
            <a:ext cx="6173600" cy="4261588"/>
          </a:xfrm>
          <a:prstGeom prst="rect">
            <a:avLst/>
          </a:prstGeom>
          <a:noFill/>
          <a:ln>
            <a:noFill/>
          </a:ln>
        </p:spPr>
      </p:pic>
    </p:spTree>
    <p:extLst>
      <p:ext uri="{BB962C8B-B14F-4D97-AF65-F5344CB8AC3E}">
        <p14:creationId xmlns:p14="http://schemas.microsoft.com/office/powerpoint/2010/main" val="35434047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901874" y="839244"/>
            <a:ext cx="2555310" cy="375781"/>
          </a:xfrm>
          <a:prstGeom prst="rect">
            <a:avLst/>
          </a:prstGeom>
          <a:noFill/>
        </p:spPr>
        <p:txBody>
          <a:bodyPr wrap="square" rtlCol="0">
            <a:spAutoFit/>
          </a:bodyPr>
          <a:lstStyle/>
          <a:p>
            <a:r>
              <a:rPr lang="en-US" dirty="0" smtClean="0"/>
              <a:t>CLASS DIAGRAM</a:t>
            </a:r>
            <a:endParaRPr lang="en-IN" dirty="0"/>
          </a:p>
        </p:txBody>
      </p:sp>
      <p:pic>
        <p:nvPicPr>
          <p:cNvPr id="6" name="Picture 5" descr="C:\Users\EGC02158\Downloads\PLBBIWGn4BmFv1zorCFYFGTP40H1zo1u7ff9cmtaHJh38kA_cqwopZAUKgdkgguEELA1N5Rln2IcnG6H_23CybjCKguLpLOp3E2HJ_HW7ODKMoynjwABneQx-oP9Be9-yM2GYP_Djd7Trp8Snf_MuPoWd9jfnfJZWaGxyTFfDBz5ZQuRU8R3e6Iu3gzoRPUoqpwZnWm5zIj23ZQOxW7.png"/>
          <p:cNvPicPr/>
          <p:nvPr/>
        </p:nvPicPr>
        <p:blipFill>
          <a:blip r:embed="rId2">
            <a:extLst>
              <a:ext uri="{28A0092B-C50C-407E-A947-70E740481C1C}">
                <a14:useLocalDpi xmlns:a14="http://schemas.microsoft.com/office/drawing/2010/main" val="0"/>
              </a:ext>
            </a:extLst>
          </a:blip>
          <a:srcRect/>
          <a:stretch>
            <a:fillRect/>
          </a:stretch>
        </p:blipFill>
        <p:spPr bwMode="auto">
          <a:xfrm>
            <a:off x="5659616" y="581083"/>
            <a:ext cx="4630604" cy="5407593"/>
          </a:xfrm>
          <a:prstGeom prst="rect">
            <a:avLst/>
          </a:prstGeom>
          <a:noFill/>
          <a:ln>
            <a:noFill/>
          </a:ln>
        </p:spPr>
      </p:pic>
    </p:spTree>
    <p:extLst>
      <p:ext uri="{BB962C8B-B14F-4D97-AF65-F5344CB8AC3E}">
        <p14:creationId xmlns:p14="http://schemas.microsoft.com/office/powerpoint/2010/main" val="30202848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p:cNvSpPr txBox="1"/>
          <p:nvPr/>
        </p:nvSpPr>
        <p:spPr>
          <a:xfrm>
            <a:off x="1127342" y="889348"/>
            <a:ext cx="2968669" cy="369332"/>
          </a:xfrm>
          <a:prstGeom prst="rect">
            <a:avLst/>
          </a:prstGeom>
          <a:noFill/>
        </p:spPr>
        <p:txBody>
          <a:bodyPr wrap="square" rtlCol="0">
            <a:spAutoFit/>
          </a:bodyPr>
          <a:lstStyle/>
          <a:p>
            <a:r>
              <a:rPr lang="en-US" dirty="0" smtClean="0"/>
              <a:t>ACTIVITY DIAGRAM</a:t>
            </a:r>
            <a:endParaRPr lang="en-IN" dirty="0"/>
          </a:p>
        </p:txBody>
      </p:sp>
      <p:pic>
        <p:nvPicPr>
          <p:cNvPr id="6" name="Picture 5" descr="C:\Users\EGC02158\Downloads\JOz12i9034NtXTuXDt1lDmMr8fGYeWS8dJ04fZD3aeBUtcd7XQjyydu--RqQYgrBQ9kssVKcZYybWGTvLYDHEC2Ol0B7hj8S4hh2ZIC6k2tegPAxK9Oqa-h_zZHDC13QAWINjmdEnkcNDP0ZGIC78w54ZXwUWho9QhXIt0rGiXt_NPvPSy1FUKFNO5qjaF8sUugkTFe2.png"/>
          <p:cNvPicPr/>
          <p:nvPr/>
        </p:nvPicPr>
        <p:blipFill>
          <a:blip r:embed="rId2">
            <a:extLst>
              <a:ext uri="{28A0092B-C50C-407E-A947-70E740481C1C}">
                <a14:useLocalDpi xmlns:a14="http://schemas.microsoft.com/office/drawing/2010/main" val="0"/>
              </a:ext>
            </a:extLst>
          </a:blip>
          <a:srcRect/>
          <a:stretch>
            <a:fillRect/>
          </a:stretch>
        </p:blipFill>
        <p:spPr bwMode="auto">
          <a:xfrm>
            <a:off x="7049971" y="754568"/>
            <a:ext cx="3162976" cy="4937894"/>
          </a:xfrm>
          <a:prstGeom prst="rect">
            <a:avLst/>
          </a:prstGeom>
          <a:noFill/>
          <a:ln>
            <a:noFill/>
          </a:ln>
        </p:spPr>
      </p:pic>
    </p:spTree>
    <p:extLst>
      <p:ext uri="{BB962C8B-B14F-4D97-AF65-F5344CB8AC3E}">
        <p14:creationId xmlns:p14="http://schemas.microsoft.com/office/powerpoint/2010/main" val="2084280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999081" y="1818829"/>
            <a:ext cx="6688899" cy="3076291"/>
          </a:xfrm>
          <a:prstGeom prst="rect">
            <a:avLst/>
          </a:prstGeom>
          <a:noFill/>
        </p:spPr>
        <p:txBody>
          <a:bodyPr wrap="square" rtlCol="0">
            <a:spAutoFit/>
          </a:bodyPr>
          <a:lstStyle/>
          <a:p>
            <a:pPr>
              <a:lnSpc>
                <a:spcPct val="200000"/>
              </a:lnSpc>
            </a:pPr>
            <a:r>
              <a:rPr lang="en-IN" sz="2000" dirty="0" smtClean="0"/>
              <a:t>. User </a:t>
            </a:r>
            <a:r>
              <a:rPr lang="en-IN" sz="2000" dirty="0"/>
              <a:t>Authentication </a:t>
            </a:r>
          </a:p>
          <a:p>
            <a:pPr>
              <a:lnSpc>
                <a:spcPct val="200000"/>
              </a:lnSpc>
            </a:pPr>
            <a:r>
              <a:rPr lang="en-IN" sz="2000" dirty="0"/>
              <a:t>· Image Upload and Pre-processing </a:t>
            </a:r>
          </a:p>
          <a:p>
            <a:pPr>
              <a:lnSpc>
                <a:spcPct val="200000"/>
              </a:lnSpc>
            </a:pPr>
            <a:r>
              <a:rPr lang="en-IN" sz="2000" dirty="0"/>
              <a:t>· CNN-Based Feature Extraction and Classification </a:t>
            </a:r>
          </a:p>
          <a:p>
            <a:pPr>
              <a:lnSpc>
                <a:spcPct val="200000"/>
              </a:lnSpc>
            </a:pPr>
            <a:r>
              <a:rPr lang="en-IN" sz="2000" dirty="0"/>
              <a:t>· Federated Learning Training </a:t>
            </a:r>
          </a:p>
          <a:p>
            <a:pPr>
              <a:lnSpc>
                <a:spcPct val="200000"/>
              </a:lnSpc>
            </a:pPr>
            <a:r>
              <a:rPr lang="en-IN" sz="2000" dirty="0"/>
              <a:t>· Prediction and Result Display </a:t>
            </a:r>
          </a:p>
        </p:txBody>
      </p:sp>
      <p:sp>
        <p:nvSpPr>
          <p:cNvPr id="4" name="TextBox 3"/>
          <p:cNvSpPr txBox="1"/>
          <p:nvPr/>
        </p:nvSpPr>
        <p:spPr>
          <a:xfrm>
            <a:off x="4985359" y="842468"/>
            <a:ext cx="3106455" cy="369332"/>
          </a:xfrm>
          <a:prstGeom prst="rect">
            <a:avLst/>
          </a:prstGeom>
          <a:noFill/>
        </p:spPr>
        <p:txBody>
          <a:bodyPr wrap="square" rtlCol="0">
            <a:spAutoFit/>
          </a:bodyPr>
          <a:lstStyle/>
          <a:p>
            <a:r>
              <a:rPr lang="en-US" b="1" dirty="0" smtClean="0"/>
              <a:t>MODULES</a:t>
            </a:r>
            <a:endParaRPr lang="en-IN" b="1" dirty="0"/>
          </a:p>
        </p:txBody>
      </p:sp>
    </p:spTree>
    <p:extLst>
      <p:ext uri="{BB962C8B-B14F-4D97-AF65-F5344CB8AC3E}">
        <p14:creationId xmlns:p14="http://schemas.microsoft.com/office/powerpoint/2010/main" val="34059775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865321" y="1002484"/>
            <a:ext cx="10224655" cy="4708981"/>
          </a:xfrm>
          <a:prstGeom prst="rect">
            <a:avLst/>
          </a:prstGeom>
          <a:noFill/>
        </p:spPr>
        <p:txBody>
          <a:bodyPr wrap="square" rtlCol="0">
            <a:spAutoFit/>
          </a:bodyPr>
          <a:lstStyle/>
          <a:p>
            <a:pPr algn="just">
              <a:lnSpc>
                <a:spcPct val="150000"/>
              </a:lnSpc>
            </a:pPr>
            <a:r>
              <a:rPr lang="en-IN" sz="2000" b="1" dirty="0"/>
              <a:t>User Authentication Module</a:t>
            </a:r>
            <a:endParaRPr lang="en-IN" sz="2000" dirty="0"/>
          </a:p>
          <a:p>
            <a:pPr algn="just">
              <a:lnSpc>
                <a:spcPct val="150000"/>
              </a:lnSpc>
            </a:pPr>
            <a:r>
              <a:rPr lang="en-IN" sz="2000" dirty="0"/>
              <a:t>This module handles user registration, login, and secure access to the system. It ensures that only authorized users can upload images and view predictions. User credentials are stored securely, and session management is implemented to maintain login status. This module improves system security and provides a personalized experience for each user.</a:t>
            </a:r>
          </a:p>
          <a:p>
            <a:pPr algn="just">
              <a:lnSpc>
                <a:spcPct val="150000"/>
              </a:lnSpc>
            </a:pPr>
            <a:r>
              <a:rPr lang="en-IN" sz="2000" b="1" dirty="0"/>
              <a:t>Key Points:</a:t>
            </a:r>
            <a:endParaRPr lang="en-IN" sz="2000" dirty="0"/>
          </a:p>
          <a:p>
            <a:pPr marL="342900" lvl="0" indent="-342900" algn="just">
              <a:lnSpc>
                <a:spcPct val="150000"/>
              </a:lnSpc>
              <a:buFont typeface="Arial" panose="020B0604020202020204" pitchFamily="34" charset="0"/>
              <a:buChar char="•"/>
            </a:pPr>
            <a:r>
              <a:rPr lang="en-IN" sz="2000" b="1" dirty="0"/>
              <a:t>User Registration</a:t>
            </a:r>
            <a:r>
              <a:rPr lang="en-IN" sz="2000" dirty="0"/>
              <a:t> – Allows new users to create an account. </a:t>
            </a:r>
          </a:p>
          <a:p>
            <a:pPr marL="342900" lvl="0" indent="-342900" algn="just">
              <a:lnSpc>
                <a:spcPct val="150000"/>
              </a:lnSpc>
              <a:buFont typeface="Arial" panose="020B0604020202020204" pitchFamily="34" charset="0"/>
              <a:buChar char="•"/>
            </a:pPr>
            <a:r>
              <a:rPr lang="en-IN" sz="2000" b="1" dirty="0"/>
              <a:t>User Login</a:t>
            </a:r>
            <a:r>
              <a:rPr lang="en-IN" sz="2000" dirty="0"/>
              <a:t> – Authenticates users using credentials. </a:t>
            </a:r>
          </a:p>
          <a:p>
            <a:pPr marL="342900" lvl="0" indent="-342900" algn="just">
              <a:lnSpc>
                <a:spcPct val="150000"/>
              </a:lnSpc>
              <a:buFont typeface="Arial" panose="020B0604020202020204" pitchFamily="34" charset="0"/>
              <a:buChar char="•"/>
            </a:pPr>
            <a:r>
              <a:rPr lang="en-IN" sz="2000" b="1" dirty="0"/>
              <a:t>Session Management</a:t>
            </a:r>
            <a:r>
              <a:rPr lang="en-IN" sz="2000" dirty="0"/>
              <a:t> – Maintains active user sessions securely. </a:t>
            </a:r>
          </a:p>
          <a:p>
            <a:pPr marL="342900" lvl="0" indent="-342900" algn="just">
              <a:lnSpc>
                <a:spcPct val="150000"/>
              </a:lnSpc>
              <a:buFont typeface="Arial" panose="020B0604020202020204" pitchFamily="34" charset="0"/>
              <a:buChar char="•"/>
            </a:pPr>
            <a:r>
              <a:rPr lang="en-IN" sz="2000" b="1" dirty="0"/>
              <a:t>Data Security</a:t>
            </a:r>
            <a:r>
              <a:rPr lang="en-IN" sz="2000" dirty="0"/>
              <a:t> – Protects user information from unauthorized access. </a:t>
            </a:r>
          </a:p>
        </p:txBody>
      </p:sp>
    </p:spTree>
    <p:extLst>
      <p:ext uri="{BB962C8B-B14F-4D97-AF65-F5344CB8AC3E}">
        <p14:creationId xmlns:p14="http://schemas.microsoft.com/office/powerpoint/2010/main" val="7553094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828681" y="801692"/>
            <a:ext cx="10224655" cy="4708981"/>
          </a:xfrm>
          <a:prstGeom prst="rect">
            <a:avLst/>
          </a:prstGeom>
          <a:noFill/>
        </p:spPr>
        <p:txBody>
          <a:bodyPr wrap="square" rtlCol="0">
            <a:spAutoFit/>
          </a:bodyPr>
          <a:lstStyle/>
          <a:p>
            <a:pPr algn="just">
              <a:lnSpc>
                <a:spcPct val="150000"/>
              </a:lnSpc>
            </a:pPr>
            <a:r>
              <a:rPr lang="en-IN" sz="2000" b="1" dirty="0"/>
              <a:t>🔹 Image Upload and </a:t>
            </a:r>
            <a:r>
              <a:rPr lang="en-IN" sz="2000" b="1" dirty="0" err="1"/>
              <a:t>Preprocessing</a:t>
            </a:r>
            <a:r>
              <a:rPr lang="en-IN" sz="2000" b="1" dirty="0"/>
              <a:t> Module</a:t>
            </a:r>
            <a:endParaRPr lang="en-IN" sz="2000" dirty="0"/>
          </a:p>
          <a:p>
            <a:pPr algn="just">
              <a:lnSpc>
                <a:spcPct val="150000"/>
              </a:lnSpc>
            </a:pPr>
            <a:r>
              <a:rPr lang="en-IN" sz="2000" dirty="0"/>
              <a:t>This module allows users to upload retinal fundus images for analysis. It also performs </a:t>
            </a:r>
            <a:r>
              <a:rPr lang="en-IN" sz="2000" dirty="0" err="1"/>
              <a:t>preprocessing</a:t>
            </a:r>
            <a:r>
              <a:rPr lang="en-IN" sz="2000" dirty="0"/>
              <a:t> steps such as resizing, normalization, and noise reduction to prepare the images for model input. Proper </a:t>
            </a:r>
            <a:r>
              <a:rPr lang="en-IN" sz="2000" dirty="0" err="1"/>
              <a:t>preprocessing</a:t>
            </a:r>
            <a:r>
              <a:rPr lang="en-IN" sz="2000" dirty="0"/>
              <a:t> improves the quality of input data and enhances model accuracy.</a:t>
            </a:r>
          </a:p>
          <a:p>
            <a:pPr algn="just">
              <a:lnSpc>
                <a:spcPct val="150000"/>
              </a:lnSpc>
            </a:pPr>
            <a:r>
              <a:rPr lang="en-IN" sz="2000" b="1" dirty="0"/>
              <a:t>Key Points:</a:t>
            </a:r>
            <a:endParaRPr lang="en-IN" sz="2000" dirty="0"/>
          </a:p>
          <a:p>
            <a:pPr marL="342900" lvl="0" indent="-342900" algn="just">
              <a:lnSpc>
                <a:spcPct val="150000"/>
              </a:lnSpc>
              <a:buFont typeface="Arial" panose="020B0604020202020204" pitchFamily="34" charset="0"/>
              <a:buChar char="•"/>
            </a:pPr>
            <a:r>
              <a:rPr lang="en-IN" sz="2000" b="1" dirty="0"/>
              <a:t>Image Upload</a:t>
            </a:r>
            <a:r>
              <a:rPr lang="en-IN" sz="2000" dirty="0"/>
              <a:t> – Enables users to upload retinal images. </a:t>
            </a:r>
          </a:p>
          <a:p>
            <a:pPr marL="342900" lvl="0" indent="-342900" algn="just">
              <a:lnSpc>
                <a:spcPct val="150000"/>
              </a:lnSpc>
              <a:buFont typeface="Arial" panose="020B0604020202020204" pitchFamily="34" charset="0"/>
              <a:buChar char="•"/>
            </a:pPr>
            <a:r>
              <a:rPr lang="en-IN" sz="2000" b="1" dirty="0"/>
              <a:t>Image Resizing</a:t>
            </a:r>
            <a:r>
              <a:rPr lang="en-IN" sz="2000" dirty="0"/>
              <a:t> – Adjusts image size to match model requirements. </a:t>
            </a:r>
          </a:p>
          <a:p>
            <a:pPr marL="342900" lvl="0" indent="-342900" algn="just">
              <a:lnSpc>
                <a:spcPct val="150000"/>
              </a:lnSpc>
              <a:buFont typeface="Arial" panose="020B0604020202020204" pitchFamily="34" charset="0"/>
              <a:buChar char="•"/>
            </a:pPr>
            <a:r>
              <a:rPr lang="en-IN" sz="2000" b="1" dirty="0"/>
              <a:t>Normalization</a:t>
            </a:r>
            <a:r>
              <a:rPr lang="en-IN" sz="2000" dirty="0"/>
              <a:t> – Standardizes pixel values for consistency. </a:t>
            </a:r>
          </a:p>
          <a:p>
            <a:pPr marL="342900" indent="-342900" algn="just">
              <a:lnSpc>
                <a:spcPct val="150000"/>
              </a:lnSpc>
              <a:buFont typeface="Arial" panose="020B0604020202020204" pitchFamily="34" charset="0"/>
              <a:buChar char="•"/>
            </a:pPr>
            <a:r>
              <a:rPr lang="en-IN" sz="2000" b="1" dirty="0"/>
              <a:t>Noise Reduction</a:t>
            </a:r>
            <a:r>
              <a:rPr lang="en-IN" sz="2000" dirty="0"/>
              <a:t> – Removes unwanted distortions in images</a:t>
            </a:r>
            <a:endParaRPr lang="en-IN" dirty="0"/>
          </a:p>
        </p:txBody>
      </p:sp>
    </p:spTree>
    <p:extLst>
      <p:ext uri="{BB962C8B-B14F-4D97-AF65-F5344CB8AC3E}">
        <p14:creationId xmlns:p14="http://schemas.microsoft.com/office/powerpoint/2010/main" val="36414998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852443" y="1075803"/>
            <a:ext cx="10224655" cy="4247317"/>
          </a:xfrm>
          <a:prstGeom prst="rect">
            <a:avLst/>
          </a:prstGeom>
          <a:noFill/>
        </p:spPr>
        <p:txBody>
          <a:bodyPr wrap="square" rtlCol="0">
            <a:spAutoFit/>
          </a:bodyPr>
          <a:lstStyle/>
          <a:p>
            <a:pPr algn="just">
              <a:lnSpc>
                <a:spcPct val="150000"/>
              </a:lnSpc>
            </a:pPr>
            <a:r>
              <a:rPr lang="en-IN" sz="2000" b="1" dirty="0"/>
              <a:t>🔹 CNN-Based Feature Extraction and Classification Module</a:t>
            </a:r>
            <a:endParaRPr lang="en-IN" sz="2000" dirty="0"/>
          </a:p>
          <a:p>
            <a:pPr algn="just">
              <a:lnSpc>
                <a:spcPct val="150000"/>
              </a:lnSpc>
            </a:pPr>
            <a:r>
              <a:rPr lang="en-IN" sz="2000" dirty="0"/>
              <a:t>This module uses a Convolutional Neural Network (CNN) to extract important features from retinal images and classify them into diabetic retinopathy or non-diabetic categories. It plays a key role in identifying patterns and abnormalities in the images with high accuracy.</a:t>
            </a:r>
          </a:p>
          <a:p>
            <a:pPr algn="just">
              <a:lnSpc>
                <a:spcPct val="150000"/>
              </a:lnSpc>
            </a:pPr>
            <a:r>
              <a:rPr lang="en-IN" sz="2000" b="1" dirty="0"/>
              <a:t>Key Points:</a:t>
            </a:r>
            <a:endParaRPr lang="en-IN" sz="2000" dirty="0"/>
          </a:p>
          <a:p>
            <a:pPr marL="342900" lvl="0" indent="-342900" algn="just">
              <a:lnSpc>
                <a:spcPct val="150000"/>
              </a:lnSpc>
              <a:buFont typeface="Arial" panose="020B0604020202020204" pitchFamily="34" charset="0"/>
              <a:buChar char="•"/>
            </a:pPr>
            <a:r>
              <a:rPr lang="en-IN" sz="2000" b="1" dirty="0"/>
              <a:t>Feature Extraction</a:t>
            </a:r>
            <a:r>
              <a:rPr lang="en-IN" sz="2000" dirty="0"/>
              <a:t> – Identifies important patterns from images. </a:t>
            </a:r>
          </a:p>
          <a:p>
            <a:pPr marL="342900" lvl="0" indent="-342900" algn="just">
              <a:lnSpc>
                <a:spcPct val="150000"/>
              </a:lnSpc>
              <a:buFont typeface="Arial" panose="020B0604020202020204" pitchFamily="34" charset="0"/>
              <a:buChar char="•"/>
            </a:pPr>
            <a:r>
              <a:rPr lang="en-IN" sz="2000" b="1" dirty="0"/>
              <a:t>Model Training</a:t>
            </a:r>
            <a:r>
              <a:rPr lang="en-IN" sz="2000" dirty="0"/>
              <a:t> – Learns from </a:t>
            </a:r>
            <a:r>
              <a:rPr lang="en-IN" sz="2000" dirty="0" err="1"/>
              <a:t>labeled</a:t>
            </a:r>
            <a:r>
              <a:rPr lang="en-IN" sz="2000" dirty="0"/>
              <a:t> dataset images. </a:t>
            </a:r>
          </a:p>
          <a:p>
            <a:pPr marL="342900" lvl="0" indent="-342900" algn="just">
              <a:lnSpc>
                <a:spcPct val="150000"/>
              </a:lnSpc>
              <a:buFont typeface="Arial" panose="020B0604020202020204" pitchFamily="34" charset="0"/>
              <a:buChar char="•"/>
            </a:pPr>
            <a:r>
              <a:rPr lang="en-IN" sz="2000" b="1" dirty="0"/>
              <a:t>Classification</a:t>
            </a:r>
            <a:r>
              <a:rPr lang="en-IN" sz="2000" dirty="0"/>
              <a:t> – Categorizes images into classes. </a:t>
            </a:r>
          </a:p>
          <a:p>
            <a:pPr marL="342900" lvl="0" indent="-342900" algn="just">
              <a:lnSpc>
                <a:spcPct val="150000"/>
              </a:lnSpc>
              <a:buFont typeface="Arial" panose="020B0604020202020204" pitchFamily="34" charset="0"/>
              <a:buChar char="•"/>
            </a:pPr>
            <a:r>
              <a:rPr lang="en-IN" sz="2000" b="1" dirty="0"/>
              <a:t>Accuracy Optimization</a:t>
            </a:r>
            <a:r>
              <a:rPr lang="en-IN" sz="2000" dirty="0"/>
              <a:t> – Improves prediction performance. </a:t>
            </a:r>
          </a:p>
        </p:txBody>
      </p:sp>
    </p:spTree>
    <p:extLst>
      <p:ext uri="{BB962C8B-B14F-4D97-AF65-F5344CB8AC3E}">
        <p14:creationId xmlns:p14="http://schemas.microsoft.com/office/powerpoint/2010/main" val="1824111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839563" y="749562"/>
            <a:ext cx="10635513" cy="5170646"/>
          </a:xfrm>
          <a:prstGeom prst="rect">
            <a:avLst/>
          </a:prstGeom>
          <a:noFill/>
        </p:spPr>
        <p:txBody>
          <a:bodyPr wrap="square" rtlCol="0">
            <a:spAutoFit/>
          </a:bodyPr>
          <a:lstStyle/>
          <a:p>
            <a:pPr algn="just">
              <a:lnSpc>
                <a:spcPct val="150000"/>
              </a:lnSpc>
            </a:pPr>
            <a:r>
              <a:rPr lang="en-IN" sz="2000" b="1" dirty="0"/>
              <a:t>🔹 Federated Learning Training Module</a:t>
            </a:r>
            <a:endParaRPr lang="en-IN" sz="2000" dirty="0"/>
          </a:p>
          <a:p>
            <a:pPr algn="just">
              <a:lnSpc>
                <a:spcPct val="150000"/>
              </a:lnSpc>
            </a:pPr>
            <a:r>
              <a:rPr lang="en-IN" sz="2000" dirty="0"/>
              <a:t>This module implements Federated Learning to train the model across multiple decentralized clients without sharing raw data. It collects model updates from different sources and aggregates them to build a global model. This ensures privacy while improving model performance through collaborative learning.</a:t>
            </a:r>
          </a:p>
          <a:p>
            <a:pPr algn="just">
              <a:lnSpc>
                <a:spcPct val="150000"/>
              </a:lnSpc>
            </a:pPr>
            <a:r>
              <a:rPr lang="en-IN" sz="2000" dirty="0"/>
              <a:t> </a:t>
            </a:r>
          </a:p>
          <a:p>
            <a:pPr algn="just">
              <a:lnSpc>
                <a:spcPct val="150000"/>
              </a:lnSpc>
            </a:pPr>
            <a:r>
              <a:rPr lang="en-IN" sz="2000" b="1" dirty="0"/>
              <a:t>Key Points:</a:t>
            </a:r>
            <a:endParaRPr lang="en-IN" sz="2000" dirty="0"/>
          </a:p>
          <a:p>
            <a:pPr marL="342900" lvl="0" indent="-342900" algn="just">
              <a:lnSpc>
                <a:spcPct val="150000"/>
              </a:lnSpc>
              <a:buFont typeface="Arial" panose="020B0604020202020204" pitchFamily="34" charset="0"/>
              <a:buChar char="•"/>
            </a:pPr>
            <a:r>
              <a:rPr lang="en-IN" sz="2000" b="1" dirty="0"/>
              <a:t>Local Training</a:t>
            </a:r>
            <a:r>
              <a:rPr lang="en-IN" sz="2000" dirty="0"/>
              <a:t> – Trains model on individual client data. </a:t>
            </a:r>
          </a:p>
          <a:p>
            <a:pPr marL="342900" lvl="0" indent="-342900" algn="just">
              <a:lnSpc>
                <a:spcPct val="150000"/>
              </a:lnSpc>
              <a:buFont typeface="Arial" panose="020B0604020202020204" pitchFamily="34" charset="0"/>
              <a:buChar char="•"/>
            </a:pPr>
            <a:r>
              <a:rPr lang="en-IN" sz="2000" b="1" dirty="0"/>
              <a:t>Model Aggregation</a:t>
            </a:r>
            <a:r>
              <a:rPr lang="en-IN" sz="2000" dirty="0"/>
              <a:t> – Combines updates into a global model. </a:t>
            </a:r>
          </a:p>
          <a:p>
            <a:pPr marL="342900" lvl="0" indent="-342900" algn="just">
              <a:lnSpc>
                <a:spcPct val="150000"/>
              </a:lnSpc>
              <a:buFont typeface="Arial" panose="020B0604020202020204" pitchFamily="34" charset="0"/>
              <a:buChar char="•"/>
            </a:pPr>
            <a:r>
              <a:rPr lang="en-IN" sz="2000" b="1" dirty="0"/>
              <a:t>Privacy Preservation</a:t>
            </a:r>
            <a:r>
              <a:rPr lang="en-IN" sz="2000" dirty="0"/>
              <a:t> – Keeps user data secure locally. </a:t>
            </a:r>
          </a:p>
          <a:p>
            <a:pPr marL="342900" lvl="0" indent="-342900" algn="just">
              <a:lnSpc>
                <a:spcPct val="150000"/>
              </a:lnSpc>
              <a:buFont typeface="Arial" panose="020B0604020202020204" pitchFamily="34" charset="0"/>
              <a:buChar char="•"/>
            </a:pPr>
            <a:r>
              <a:rPr lang="en-IN" sz="2000" b="1" dirty="0"/>
              <a:t>Distributed Learning</a:t>
            </a:r>
            <a:r>
              <a:rPr lang="en-IN" sz="2000" dirty="0"/>
              <a:t> – Enables learning from multiple sources. </a:t>
            </a:r>
          </a:p>
        </p:txBody>
      </p:sp>
    </p:spTree>
    <p:extLst>
      <p:ext uri="{BB962C8B-B14F-4D97-AF65-F5344CB8AC3E}">
        <p14:creationId xmlns:p14="http://schemas.microsoft.com/office/powerpoint/2010/main" val="17453732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865321" y="1013036"/>
            <a:ext cx="10224655" cy="4247317"/>
          </a:xfrm>
          <a:prstGeom prst="rect">
            <a:avLst/>
          </a:prstGeom>
          <a:noFill/>
        </p:spPr>
        <p:txBody>
          <a:bodyPr wrap="square" rtlCol="0">
            <a:spAutoFit/>
          </a:bodyPr>
          <a:lstStyle/>
          <a:p>
            <a:pPr algn="just">
              <a:lnSpc>
                <a:spcPct val="150000"/>
              </a:lnSpc>
            </a:pPr>
            <a:r>
              <a:rPr lang="en-IN" sz="2000" b="1" dirty="0"/>
              <a:t>🔹 Prediction and Result Display Module</a:t>
            </a:r>
            <a:endParaRPr lang="en-IN" sz="2000" dirty="0"/>
          </a:p>
          <a:p>
            <a:pPr algn="just">
              <a:lnSpc>
                <a:spcPct val="150000"/>
              </a:lnSpc>
            </a:pPr>
            <a:r>
              <a:rPr lang="en-IN" sz="2000" dirty="0"/>
              <a:t>This module provides the final output to the user by </a:t>
            </a:r>
            <a:r>
              <a:rPr lang="en-IN" sz="2000" dirty="0" err="1"/>
              <a:t>analyzing</a:t>
            </a:r>
            <a:r>
              <a:rPr lang="en-IN" sz="2000" dirty="0"/>
              <a:t> the uploaded image and displaying whether diabetic retinopathy is detected or not. It ensures real-time prediction and presents results in a clear and understandable format for users.</a:t>
            </a:r>
          </a:p>
          <a:p>
            <a:pPr algn="just">
              <a:lnSpc>
                <a:spcPct val="150000"/>
              </a:lnSpc>
            </a:pPr>
            <a:r>
              <a:rPr lang="en-IN" sz="2000" b="1" dirty="0"/>
              <a:t>Key Points:</a:t>
            </a:r>
            <a:endParaRPr lang="en-IN" sz="2000" dirty="0"/>
          </a:p>
          <a:p>
            <a:pPr marL="342900" lvl="0" indent="-342900" algn="just">
              <a:lnSpc>
                <a:spcPct val="150000"/>
              </a:lnSpc>
              <a:buFont typeface="Arial" panose="020B0604020202020204" pitchFamily="34" charset="0"/>
              <a:buChar char="•"/>
            </a:pPr>
            <a:r>
              <a:rPr lang="en-IN" sz="2000" b="1" dirty="0"/>
              <a:t>Real-Time Prediction</a:t>
            </a:r>
            <a:r>
              <a:rPr lang="en-IN" sz="2000" dirty="0"/>
              <a:t> – Generates instant results. </a:t>
            </a:r>
          </a:p>
          <a:p>
            <a:pPr marL="342900" lvl="0" indent="-342900" algn="just">
              <a:lnSpc>
                <a:spcPct val="150000"/>
              </a:lnSpc>
              <a:buFont typeface="Arial" panose="020B0604020202020204" pitchFamily="34" charset="0"/>
              <a:buChar char="•"/>
            </a:pPr>
            <a:r>
              <a:rPr lang="en-IN" sz="2000" b="1" dirty="0"/>
              <a:t>Result Display</a:t>
            </a:r>
            <a:r>
              <a:rPr lang="en-IN" sz="2000" dirty="0"/>
              <a:t> – Shows classification outcome to users. </a:t>
            </a:r>
          </a:p>
          <a:p>
            <a:pPr marL="342900" lvl="0" indent="-342900" algn="just">
              <a:lnSpc>
                <a:spcPct val="150000"/>
              </a:lnSpc>
              <a:buFont typeface="Arial" panose="020B0604020202020204" pitchFamily="34" charset="0"/>
              <a:buChar char="•"/>
            </a:pPr>
            <a:r>
              <a:rPr lang="en-IN" sz="2000" b="1" dirty="0"/>
              <a:t>User Feedback</a:t>
            </a:r>
            <a:r>
              <a:rPr lang="en-IN" sz="2000" dirty="0"/>
              <a:t> – Provides clear diagnostic information. </a:t>
            </a:r>
          </a:p>
          <a:p>
            <a:pPr marL="342900" lvl="0" indent="-342900" algn="just">
              <a:lnSpc>
                <a:spcPct val="150000"/>
              </a:lnSpc>
              <a:buFont typeface="Arial" panose="020B0604020202020204" pitchFamily="34" charset="0"/>
              <a:buChar char="•"/>
            </a:pPr>
            <a:r>
              <a:rPr lang="en-IN" sz="2000" b="1" dirty="0"/>
              <a:t>System Response</a:t>
            </a:r>
            <a:r>
              <a:rPr lang="en-IN" sz="2000" dirty="0"/>
              <a:t> – Ensures fast and efficient output.</a:t>
            </a:r>
          </a:p>
        </p:txBody>
      </p:sp>
    </p:spTree>
    <p:extLst>
      <p:ext uri="{BB962C8B-B14F-4D97-AF65-F5344CB8AC3E}">
        <p14:creationId xmlns:p14="http://schemas.microsoft.com/office/powerpoint/2010/main" val="5671326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710553"/>
            <a:ext cx="10515600" cy="4351338"/>
          </a:xfrm>
        </p:spPr>
        <p:txBody>
          <a:bodyPr>
            <a:normAutofit/>
          </a:bodyPr>
          <a:lstStyle/>
          <a:p>
            <a:pPr algn="just">
              <a:lnSpc>
                <a:spcPct val="150000"/>
              </a:lnSpc>
              <a:buNone/>
            </a:pPr>
            <a:r>
              <a:rPr lang="en-US" sz="2000" b="1" dirty="0" smtClean="0">
                <a:latin typeface="Times New Roman" pitchFamily="18" charset="0"/>
                <a:cs typeface="Times New Roman" pitchFamily="18" charset="0"/>
              </a:rPr>
              <a:t>SOFTWARE REQUIREMENTS:</a:t>
            </a:r>
          </a:p>
          <a:p>
            <a:pPr algn="just">
              <a:lnSpc>
                <a:spcPct val="150000"/>
              </a:lnSpc>
              <a:buFont typeface="Wingdings" panose="05000000000000000000" pitchFamily="2" charset="2"/>
              <a:buChar char="q"/>
            </a:pPr>
            <a:r>
              <a:rPr lang="en-US" sz="1800" dirty="0" smtClean="0">
                <a:latin typeface="Times New Roman" pitchFamily="18" charset="0"/>
                <a:cs typeface="Times New Roman" pitchFamily="18" charset="0"/>
              </a:rPr>
              <a:t>OS      :  Windows 10</a:t>
            </a:r>
          </a:p>
          <a:p>
            <a:pPr algn="just">
              <a:lnSpc>
                <a:spcPct val="150000"/>
              </a:lnSpc>
              <a:buFont typeface="Wingdings" panose="05000000000000000000" pitchFamily="2" charset="2"/>
              <a:buChar char="q"/>
            </a:pPr>
            <a:r>
              <a:rPr lang="en-US" sz="1800" dirty="0" smtClean="0">
                <a:latin typeface="Times New Roman" pitchFamily="18" charset="0"/>
                <a:cs typeface="Times New Roman" pitchFamily="18" charset="0"/>
              </a:rPr>
              <a:t>Software      :   Anaconda Navigator</a:t>
            </a:r>
          </a:p>
          <a:p>
            <a:pPr algn="just">
              <a:lnSpc>
                <a:spcPct val="150000"/>
              </a:lnSpc>
              <a:buFont typeface="Wingdings" panose="05000000000000000000" pitchFamily="2" charset="2"/>
              <a:buChar char="q"/>
            </a:pPr>
            <a:r>
              <a:rPr lang="en-US" sz="1800" dirty="0" smtClean="0">
                <a:latin typeface="Times New Roman" pitchFamily="18" charset="0"/>
                <a:cs typeface="Times New Roman" pitchFamily="18" charset="0"/>
              </a:rPr>
              <a:t>Database      :  SQLite</a:t>
            </a:r>
          </a:p>
          <a:p>
            <a:pPr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UI Design       :  Flask</a:t>
            </a:r>
          </a:p>
          <a:p>
            <a:pPr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Web Browser      :  Chrome</a:t>
            </a:r>
          </a:p>
          <a:p>
            <a:pPr algn="just">
              <a:lnSpc>
                <a:spcPct val="150000"/>
              </a:lnSpc>
              <a:buNone/>
            </a:pPr>
            <a:endParaRPr lang="en-US" sz="2000" dirty="0" smtClean="0">
              <a:latin typeface="Times New Roman" pitchFamily="18" charset="0"/>
              <a:cs typeface="Times New Roman" pitchFamily="18" charset="0"/>
            </a:endParaRPr>
          </a:p>
          <a:p>
            <a:pPr>
              <a:lnSpc>
                <a:spcPct val="150000"/>
              </a:lnSpc>
            </a:pPr>
            <a:endParaRPr lang="en-IN" sz="20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Title 1"/>
          <p:cNvSpPr txBox="1">
            <a:spLocks/>
          </p:cNvSpPr>
          <p:nvPr/>
        </p:nvSpPr>
        <p:spPr>
          <a:xfrm>
            <a:off x="1015652" y="50941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b="1" dirty="0" smtClean="0">
                <a:latin typeface="Times New Roman" panose="02020603050405020304" pitchFamily="18" charset="0"/>
                <a:cs typeface="Times New Roman" panose="02020603050405020304" pitchFamily="18" charset="0"/>
              </a:rPr>
              <a:t>SYSTEM REQUIREMENTS</a:t>
            </a:r>
            <a:endParaRPr lang="en-IN" sz="2000" b="1" dirty="0">
              <a:latin typeface="Times New Roman" panose="02020603050405020304" pitchFamily="18" charset="0"/>
              <a:cs typeface="Times New Roman" panose="02020603050405020304" pitchFamily="18" charset="0"/>
            </a:endParaRPr>
          </a:p>
        </p:txBody>
      </p:sp>
      <p:sp>
        <p:nvSpPr>
          <p:cNvPr id="7" name="Content Placeholder 2"/>
          <p:cNvSpPr txBox="1">
            <a:spLocks/>
          </p:cNvSpPr>
          <p:nvPr/>
        </p:nvSpPr>
        <p:spPr>
          <a:xfrm>
            <a:off x="6019800" y="1598656"/>
            <a:ext cx="5410200" cy="433881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200000"/>
              </a:lnSpc>
              <a:buNone/>
            </a:pPr>
            <a:r>
              <a:rPr lang="en-IN" sz="2000" b="1" u="sng" dirty="0" smtClean="0">
                <a:latin typeface="Times New Roman" panose="02020603050405020304" pitchFamily="18" charset="0"/>
                <a:cs typeface="Times New Roman" panose="02020603050405020304" pitchFamily="18" charset="0"/>
              </a:rPr>
              <a:t>HARDWARE REQUIREMENTS</a:t>
            </a:r>
            <a:endParaRPr lang="en-IN" sz="1800" u="sng"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Processor </a:t>
            </a:r>
            <a:r>
              <a:rPr lang="en-IN" sz="1800" dirty="0">
                <a:latin typeface="Times New Roman" panose="02020603050405020304" pitchFamily="18" charset="0"/>
                <a:cs typeface="Times New Roman" panose="02020603050405020304" pitchFamily="18" charset="0"/>
              </a:rPr>
              <a:t>Name          :	 Intel core 4</a:t>
            </a:r>
          </a:p>
          <a:p>
            <a:pPr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Processor Speed          :	 3.2 GHz</a:t>
            </a:r>
          </a:p>
          <a:p>
            <a:pPr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RAM                           :	 8 GB</a:t>
            </a:r>
          </a:p>
          <a:p>
            <a:pPr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Hard Disk Capacity    :       </a:t>
            </a:r>
            <a:r>
              <a:rPr lang="en-IN" sz="1800" dirty="0" smtClean="0">
                <a:latin typeface="Times New Roman" panose="02020603050405020304" pitchFamily="18" charset="0"/>
                <a:cs typeface="Times New Roman" panose="02020603050405020304" pitchFamily="18" charset="0"/>
              </a:rPr>
              <a:t>     128 </a:t>
            </a:r>
            <a:r>
              <a:rPr lang="en-IN" sz="1800" dirty="0">
                <a:latin typeface="Times New Roman" panose="02020603050405020304" pitchFamily="18" charset="0"/>
                <a:cs typeface="Times New Roman" panose="02020603050405020304" pitchFamily="18" charset="0"/>
              </a:rPr>
              <a:t>GB</a:t>
            </a:r>
          </a:p>
          <a:p>
            <a:pPr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Display Device           :	 14’ to 19’ Inch Monitor</a:t>
            </a:r>
          </a:p>
          <a:p>
            <a:pPr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Keyboard Type           : 	 PS2 or USB</a:t>
            </a:r>
          </a:p>
          <a:p>
            <a:pPr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Mouse Type                :	 PS2 or USB</a:t>
            </a:r>
          </a:p>
          <a:p>
            <a:pPr algn="just">
              <a:buFont typeface="Wingdings" panose="05000000000000000000" pitchFamily="2" charset="2"/>
              <a:buChar char="q"/>
            </a:pPr>
            <a:endParaRPr lang="en-US" sz="1800" dirty="0">
              <a:solidFill>
                <a:schemeClr val="accent6">
                  <a:lumMod val="75000"/>
                </a:schemeClr>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endParaRPr lang="en-IN" sz="1800" dirty="0">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q"/>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23372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729640" y="1459913"/>
            <a:ext cx="10753595" cy="4191981"/>
          </a:xfrm>
          <a:prstGeom prst="rect">
            <a:avLst/>
          </a:prstGeom>
          <a:noFill/>
        </p:spPr>
        <p:txBody>
          <a:bodyPr wrap="square" rtlCol="0">
            <a:spAutoFit/>
          </a:bodyPr>
          <a:lstStyle/>
          <a:p>
            <a:pPr algn="just">
              <a:lnSpc>
                <a:spcPct val="150000"/>
              </a:lnSpc>
            </a:pPr>
            <a:r>
              <a:rPr lang="en-IN" sz="2000" dirty="0"/>
              <a:t>The proposed system provides an efficient and reliable solution for the early detection of diabetic retinopathy using advanced deep learning techniques. By integrating Convolutional Neural Networks (CNN), the system effectively extracts features and classifies retinal images with high accuracy. The use of Federated Learning ensures data privacy by enabling decentralized model training without sharing sensitive information. The Flask-based web application offers a simple and user-friendly interface for easy access and usability. The system delivers real-time predictions, helping in quick diagnosis and timely medical intervention. It reduces the workload of healthcare professionals by automating the screening process. The solution is cost-effective and accessible, making it suitable for both urban and rural areas.  </a:t>
            </a:r>
          </a:p>
        </p:txBody>
      </p:sp>
      <p:sp>
        <p:nvSpPr>
          <p:cNvPr id="4" name="TextBox 3"/>
          <p:cNvSpPr txBox="1"/>
          <p:nvPr/>
        </p:nvSpPr>
        <p:spPr>
          <a:xfrm>
            <a:off x="4972833" y="789347"/>
            <a:ext cx="2693096" cy="400110"/>
          </a:xfrm>
          <a:prstGeom prst="rect">
            <a:avLst/>
          </a:prstGeom>
          <a:noFill/>
        </p:spPr>
        <p:txBody>
          <a:bodyPr wrap="square" rtlCol="0">
            <a:spAutoFit/>
          </a:bodyPr>
          <a:lstStyle/>
          <a:p>
            <a:r>
              <a:rPr lang="en-US" sz="2000" b="1" dirty="0" smtClean="0"/>
              <a:t>CONCLUSION</a:t>
            </a:r>
            <a:endParaRPr lang="en-IN" sz="2000" b="1" dirty="0"/>
          </a:p>
        </p:txBody>
      </p:sp>
    </p:spTree>
    <p:extLst>
      <p:ext uri="{BB962C8B-B14F-4D97-AF65-F5344CB8AC3E}">
        <p14:creationId xmlns:p14="http://schemas.microsoft.com/office/powerpoint/2010/main" val="39288468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648398" y="1489434"/>
            <a:ext cx="10916080" cy="4247317"/>
          </a:xfrm>
          <a:prstGeom prst="rect">
            <a:avLst/>
          </a:prstGeom>
          <a:noFill/>
        </p:spPr>
        <p:txBody>
          <a:bodyPr wrap="square" rtlCol="0">
            <a:spAutoFit/>
          </a:bodyPr>
          <a:lstStyle/>
          <a:p>
            <a:pPr algn="just">
              <a:lnSpc>
                <a:spcPct val="150000"/>
              </a:lnSpc>
            </a:pPr>
            <a:r>
              <a:rPr lang="en-IN" sz="2000" dirty="0"/>
              <a:t>The proposed system can be further enhanced by extending the model to detect multiple stages of diabetic retinopathy instead of simple binary classification. Integration with mobile applications can improve accessibility and allow users to capture and upload retinal images directly from smartphones. The system can be improved by incorporating more advanced deep learning models to increase accuracy and efficiency. Adding real-time video-based eye screening can further enhance diagnostic capabilities. The Federated Learning framework can be expanded to include more participants such as hospitals and research </a:t>
            </a:r>
            <a:r>
              <a:rPr lang="en-IN" sz="2000" dirty="0" err="1"/>
              <a:t>centers</a:t>
            </a:r>
            <a:r>
              <a:rPr lang="en-IN" sz="2000" dirty="0"/>
              <a:t> for better model training. Integration with cloud platforms can improve scalability and performance. The system can also include multilingual support to reach a wider audience. Implementing explainable AI techniques can help users and doctors understand prediction results more clearly. </a:t>
            </a:r>
          </a:p>
        </p:txBody>
      </p:sp>
      <p:sp>
        <p:nvSpPr>
          <p:cNvPr id="4" name="TextBox 3"/>
          <p:cNvSpPr txBox="1"/>
          <p:nvPr/>
        </p:nvSpPr>
        <p:spPr>
          <a:xfrm>
            <a:off x="4584526" y="818867"/>
            <a:ext cx="3870542" cy="400110"/>
          </a:xfrm>
          <a:prstGeom prst="rect">
            <a:avLst/>
          </a:prstGeom>
          <a:noFill/>
        </p:spPr>
        <p:txBody>
          <a:bodyPr wrap="square" rtlCol="0">
            <a:spAutoFit/>
          </a:bodyPr>
          <a:lstStyle/>
          <a:p>
            <a:r>
              <a:rPr lang="en-US" sz="2000" b="1" dirty="0" smtClean="0"/>
              <a:t>FUTURE ENHANCEMENT</a:t>
            </a:r>
            <a:endParaRPr lang="en-IN" sz="2000" b="1" dirty="0"/>
          </a:p>
        </p:txBody>
      </p:sp>
    </p:spTree>
    <p:extLst>
      <p:ext uri="{BB962C8B-B14F-4D97-AF65-F5344CB8AC3E}">
        <p14:creationId xmlns:p14="http://schemas.microsoft.com/office/powerpoint/2010/main" val="2455258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8434957" y="599131"/>
            <a:ext cx="2968669" cy="369332"/>
          </a:xfrm>
          <a:prstGeom prst="rect">
            <a:avLst/>
          </a:prstGeom>
          <a:noFill/>
        </p:spPr>
        <p:txBody>
          <a:bodyPr wrap="square" rtlCol="0">
            <a:spAutoFit/>
          </a:bodyPr>
          <a:lstStyle/>
          <a:p>
            <a:r>
              <a:rPr lang="en-US" b="1" dirty="0" smtClean="0"/>
              <a:t>SAMPLE SCREENSHOTS</a:t>
            </a:r>
            <a:endParaRPr lang="en-IN" b="1" dirty="0"/>
          </a:p>
        </p:txBody>
      </p:sp>
      <p:sp>
        <p:nvSpPr>
          <p:cNvPr id="9" name="TextBox 8"/>
          <p:cNvSpPr txBox="1"/>
          <p:nvPr/>
        </p:nvSpPr>
        <p:spPr>
          <a:xfrm>
            <a:off x="883791" y="5525310"/>
            <a:ext cx="3038796" cy="369332"/>
          </a:xfrm>
          <a:prstGeom prst="rect">
            <a:avLst/>
          </a:prstGeom>
          <a:noFill/>
        </p:spPr>
        <p:txBody>
          <a:bodyPr wrap="square" rtlCol="0">
            <a:spAutoFit/>
          </a:bodyPr>
          <a:lstStyle/>
          <a:p>
            <a:r>
              <a:rPr lang="en-GB" dirty="0" smtClean="0"/>
              <a:t>Login Page / Register Page</a:t>
            </a:r>
            <a:endParaRPr lang="en-IN" dirty="0"/>
          </a:p>
        </p:txBody>
      </p:sp>
      <p:pic>
        <p:nvPicPr>
          <p:cNvPr id="10" name="Picture 9"/>
          <p:cNvPicPr/>
          <p:nvPr/>
        </p:nvPicPr>
        <p:blipFill>
          <a:blip r:embed="rId2"/>
          <a:stretch>
            <a:fillRect/>
          </a:stretch>
        </p:blipFill>
        <p:spPr>
          <a:xfrm>
            <a:off x="680228" y="660765"/>
            <a:ext cx="5731510" cy="2696210"/>
          </a:xfrm>
          <a:prstGeom prst="rect">
            <a:avLst/>
          </a:prstGeom>
        </p:spPr>
      </p:pic>
      <p:pic>
        <p:nvPicPr>
          <p:cNvPr id="11" name="Picture 10"/>
          <p:cNvPicPr/>
          <p:nvPr/>
        </p:nvPicPr>
        <p:blipFill>
          <a:blip r:embed="rId3"/>
          <a:stretch>
            <a:fillRect/>
          </a:stretch>
        </p:blipFill>
        <p:spPr>
          <a:xfrm>
            <a:off x="5736627" y="3566371"/>
            <a:ext cx="5834424" cy="2586136"/>
          </a:xfrm>
          <a:prstGeom prst="rect">
            <a:avLst/>
          </a:prstGeom>
        </p:spPr>
      </p:pic>
    </p:spTree>
    <p:extLst>
      <p:ext uri="{BB962C8B-B14F-4D97-AF65-F5344CB8AC3E}">
        <p14:creationId xmlns:p14="http://schemas.microsoft.com/office/powerpoint/2010/main" val="35679748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p:cNvSpPr txBox="1"/>
          <p:nvPr/>
        </p:nvSpPr>
        <p:spPr>
          <a:xfrm>
            <a:off x="2096081" y="5217150"/>
            <a:ext cx="3544866" cy="369332"/>
          </a:xfrm>
          <a:prstGeom prst="rect">
            <a:avLst/>
          </a:prstGeom>
          <a:noFill/>
        </p:spPr>
        <p:txBody>
          <a:bodyPr wrap="square" rtlCol="0">
            <a:spAutoFit/>
          </a:bodyPr>
          <a:lstStyle/>
          <a:p>
            <a:r>
              <a:rPr lang="en-US" dirty="0" smtClean="0"/>
              <a:t>Dashboard page</a:t>
            </a:r>
            <a:endParaRPr lang="en-IN" dirty="0"/>
          </a:p>
        </p:txBody>
      </p:sp>
      <p:sp>
        <p:nvSpPr>
          <p:cNvPr id="6" name="TextBox 5"/>
          <p:cNvSpPr txBox="1"/>
          <p:nvPr/>
        </p:nvSpPr>
        <p:spPr>
          <a:xfrm>
            <a:off x="8091814" y="5273202"/>
            <a:ext cx="3494761" cy="369332"/>
          </a:xfrm>
          <a:prstGeom prst="rect">
            <a:avLst/>
          </a:prstGeom>
          <a:noFill/>
        </p:spPr>
        <p:txBody>
          <a:bodyPr wrap="square" rtlCol="0">
            <a:spAutoFit/>
          </a:bodyPr>
          <a:lstStyle/>
          <a:p>
            <a:r>
              <a:rPr lang="en-US" dirty="0" smtClean="0"/>
              <a:t>Prediction page</a:t>
            </a:r>
            <a:endParaRPr lang="en-IN" dirty="0"/>
          </a:p>
        </p:txBody>
      </p:sp>
      <p:pic>
        <p:nvPicPr>
          <p:cNvPr id="9" name="Picture 8"/>
          <p:cNvPicPr/>
          <p:nvPr/>
        </p:nvPicPr>
        <p:blipFill>
          <a:blip r:embed="rId2"/>
          <a:stretch>
            <a:fillRect/>
          </a:stretch>
        </p:blipFill>
        <p:spPr>
          <a:xfrm>
            <a:off x="814531" y="1369333"/>
            <a:ext cx="4795145" cy="3500046"/>
          </a:xfrm>
          <a:prstGeom prst="rect">
            <a:avLst/>
          </a:prstGeom>
        </p:spPr>
      </p:pic>
      <p:pic>
        <p:nvPicPr>
          <p:cNvPr id="10" name="Picture 9"/>
          <p:cNvPicPr/>
          <p:nvPr/>
        </p:nvPicPr>
        <p:blipFill>
          <a:blip r:embed="rId3"/>
          <a:stretch>
            <a:fillRect/>
          </a:stretch>
        </p:blipFill>
        <p:spPr>
          <a:xfrm>
            <a:off x="6245607" y="1369333"/>
            <a:ext cx="4830298" cy="3610534"/>
          </a:xfrm>
          <a:prstGeom prst="rect">
            <a:avLst/>
          </a:prstGeom>
        </p:spPr>
      </p:pic>
    </p:spTree>
    <p:extLst>
      <p:ext uri="{BB962C8B-B14F-4D97-AF65-F5344CB8AC3E}">
        <p14:creationId xmlns:p14="http://schemas.microsoft.com/office/powerpoint/2010/main" val="291373190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1291063" y="5326864"/>
            <a:ext cx="3156559" cy="369332"/>
          </a:xfrm>
          <a:prstGeom prst="rect">
            <a:avLst/>
          </a:prstGeom>
          <a:noFill/>
        </p:spPr>
        <p:txBody>
          <a:bodyPr wrap="square" rtlCol="0">
            <a:spAutoFit/>
          </a:bodyPr>
          <a:lstStyle/>
          <a:p>
            <a:r>
              <a:rPr lang="en-US" dirty="0" smtClean="0"/>
              <a:t>Analytics Page</a:t>
            </a:r>
            <a:endParaRPr lang="en-IN" dirty="0"/>
          </a:p>
        </p:txBody>
      </p:sp>
      <p:pic>
        <p:nvPicPr>
          <p:cNvPr id="7" name="Picture 6"/>
          <p:cNvPicPr/>
          <p:nvPr/>
        </p:nvPicPr>
        <p:blipFill>
          <a:blip r:embed="rId2"/>
          <a:stretch>
            <a:fillRect/>
          </a:stretch>
        </p:blipFill>
        <p:spPr>
          <a:xfrm>
            <a:off x="705986" y="590915"/>
            <a:ext cx="5372842" cy="3195474"/>
          </a:xfrm>
          <a:prstGeom prst="rect">
            <a:avLst/>
          </a:prstGeom>
        </p:spPr>
      </p:pic>
      <p:pic>
        <p:nvPicPr>
          <p:cNvPr id="10" name="Picture 9"/>
          <p:cNvPicPr/>
          <p:nvPr/>
        </p:nvPicPr>
        <p:blipFill>
          <a:blip r:embed="rId3"/>
          <a:stretch>
            <a:fillRect/>
          </a:stretch>
        </p:blipFill>
        <p:spPr>
          <a:xfrm>
            <a:off x="6283773" y="2473149"/>
            <a:ext cx="5281455" cy="3554164"/>
          </a:xfrm>
          <a:prstGeom prst="rect">
            <a:avLst/>
          </a:prstGeom>
        </p:spPr>
      </p:pic>
    </p:spTree>
    <p:extLst>
      <p:ext uri="{BB962C8B-B14F-4D97-AF65-F5344CB8AC3E}">
        <p14:creationId xmlns:p14="http://schemas.microsoft.com/office/powerpoint/2010/main" val="384251667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669702" y="1422915"/>
            <a:ext cx="11042134" cy="4613058"/>
          </a:xfrm>
          <a:prstGeom prst="rect">
            <a:avLst/>
          </a:prstGeom>
          <a:noFill/>
        </p:spPr>
        <p:txBody>
          <a:bodyPr wrap="square" rtlCol="0">
            <a:spAutoFit/>
          </a:bodyPr>
          <a:lstStyle/>
          <a:p>
            <a:pPr algn="just">
              <a:lnSpc>
                <a:spcPct val="150000"/>
              </a:lnSpc>
            </a:pPr>
            <a:r>
              <a:rPr lang="en-IN" dirty="0"/>
              <a:t>[1] </a:t>
            </a:r>
            <a:r>
              <a:rPr lang="en-IN" dirty="0" err="1"/>
              <a:t>Gulshan</a:t>
            </a:r>
            <a:r>
              <a:rPr lang="en-IN" dirty="0"/>
              <a:t>, V., </a:t>
            </a:r>
            <a:r>
              <a:rPr lang="en-IN" dirty="0" err="1"/>
              <a:t>Peng</a:t>
            </a:r>
            <a:r>
              <a:rPr lang="en-IN" dirty="0"/>
              <a:t>, L., Coram, M., et al., “Development and Validation of a Deep Learning Algorithm for Detection of Diabetic Retinopathy in Retinal Fundus Photographs,” </a:t>
            </a:r>
            <a:r>
              <a:rPr lang="en-IN" i="1" dirty="0"/>
              <a:t>JAMA</a:t>
            </a:r>
            <a:r>
              <a:rPr lang="en-IN" dirty="0"/>
              <a:t>, vol. 316, no. 22, pp. 2402–2410, Dec. 2016. </a:t>
            </a:r>
          </a:p>
          <a:p>
            <a:pPr algn="just">
              <a:lnSpc>
                <a:spcPct val="150000"/>
              </a:lnSpc>
            </a:pPr>
            <a:r>
              <a:rPr lang="en-IN" dirty="0"/>
              <a:t>[2] Li, Z., He, Y., Keel, S., et al., “Efficacy of a Deep Learning System for Detecting Diabetic Retinopathy in Community-Based Primary Care Settings,” </a:t>
            </a:r>
            <a:r>
              <a:rPr lang="en-IN" i="1" dirty="0" err="1"/>
              <a:t>npj</a:t>
            </a:r>
            <a:r>
              <a:rPr lang="en-IN" i="1" dirty="0"/>
              <a:t> Digital Medicine</a:t>
            </a:r>
            <a:r>
              <a:rPr lang="en-IN" dirty="0"/>
              <a:t>, vol. 1, no. 1, p. 22, 2018. </a:t>
            </a:r>
          </a:p>
          <a:p>
            <a:pPr algn="just">
              <a:lnSpc>
                <a:spcPct val="150000"/>
              </a:lnSpc>
            </a:pPr>
            <a:r>
              <a:rPr lang="en-IN" dirty="0"/>
              <a:t>[3] McMahan, B., Moore, E., </a:t>
            </a:r>
            <a:r>
              <a:rPr lang="en-IN" dirty="0" err="1"/>
              <a:t>Ramage</a:t>
            </a:r>
            <a:r>
              <a:rPr lang="en-IN" dirty="0"/>
              <a:t>, D., et al., “Communication-Efficient Learning of Deep Networks from Decentralized Data,” </a:t>
            </a:r>
            <a:r>
              <a:rPr lang="en-IN" i="1" dirty="0"/>
              <a:t>Proc. AISTATS</a:t>
            </a:r>
            <a:r>
              <a:rPr lang="en-IN" dirty="0"/>
              <a:t>, pp. 1273–1282, 2017. </a:t>
            </a:r>
          </a:p>
          <a:p>
            <a:pPr algn="just">
              <a:lnSpc>
                <a:spcPct val="150000"/>
              </a:lnSpc>
            </a:pPr>
            <a:r>
              <a:rPr lang="en-IN" dirty="0"/>
              <a:t>[4] Sheller, M. J., Reina, G. A., Edwards, B., et al., “Multi-Institutional Deep Learning </a:t>
            </a:r>
            <a:r>
              <a:rPr lang="en-IN" dirty="0" err="1"/>
              <a:t>Modeling</a:t>
            </a:r>
            <a:r>
              <a:rPr lang="en-IN" dirty="0"/>
              <a:t> Without Sharing Patient Data: A Feasibility Study on Brain </a:t>
            </a:r>
            <a:r>
              <a:rPr lang="en-IN" dirty="0" err="1"/>
              <a:t>Tumor</a:t>
            </a:r>
            <a:r>
              <a:rPr lang="en-IN" dirty="0"/>
              <a:t> Segmentation,” </a:t>
            </a:r>
            <a:r>
              <a:rPr lang="en-IN" i="1" dirty="0" err="1"/>
              <a:t>Brainlesion</a:t>
            </a:r>
            <a:r>
              <a:rPr lang="en-IN" i="1" dirty="0"/>
              <a:t> Workshop</a:t>
            </a:r>
            <a:r>
              <a:rPr lang="en-IN" dirty="0"/>
              <a:t>, pp. 92–104, 2019. </a:t>
            </a:r>
          </a:p>
          <a:p>
            <a:pPr algn="just">
              <a:lnSpc>
                <a:spcPct val="150000"/>
              </a:lnSpc>
            </a:pPr>
            <a:r>
              <a:rPr lang="en-IN" dirty="0"/>
              <a:t>[5] </a:t>
            </a:r>
            <a:r>
              <a:rPr lang="en-IN" dirty="0" err="1"/>
              <a:t>Razzak</a:t>
            </a:r>
            <a:r>
              <a:rPr lang="en-IN" dirty="0"/>
              <a:t>, M. I., </a:t>
            </a:r>
            <a:r>
              <a:rPr lang="en-IN" dirty="0" err="1"/>
              <a:t>Naz</a:t>
            </a:r>
            <a:r>
              <a:rPr lang="en-IN" dirty="0"/>
              <a:t>, S., and </a:t>
            </a:r>
            <a:r>
              <a:rPr lang="en-IN" dirty="0" err="1"/>
              <a:t>Zaib</a:t>
            </a:r>
            <a:r>
              <a:rPr lang="en-IN" dirty="0"/>
              <a:t>, A., “Deep Learning for Medical Image Processing: Overview, Challenges and the Future,” </a:t>
            </a:r>
            <a:r>
              <a:rPr lang="en-IN" i="1" dirty="0"/>
              <a:t>Springer</a:t>
            </a:r>
            <a:r>
              <a:rPr lang="en-IN" dirty="0"/>
              <a:t>, pp. 323–350, 2018. </a:t>
            </a:r>
          </a:p>
        </p:txBody>
      </p:sp>
      <p:sp>
        <p:nvSpPr>
          <p:cNvPr id="4" name="TextBox 3"/>
          <p:cNvSpPr txBox="1"/>
          <p:nvPr/>
        </p:nvSpPr>
        <p:spPr>
          <a:xfrm>
            <a:off x="5110620" y="770712"/>
            <a:ext cx="3331923" cy="400110"/>
          </a:xfrm>
          <a:prstGeom prst="rect">
            <a:avLst/>
          </a:prstGeom>
          <a:noFill/>
        </p:spPr>
        <p:txBody>
          <a:bodyPr wrap="square" rtlCol="0">
            <a:spAutoFit/>
          </a:bodyPr>
          <a:lstStyle/>
          <a:p>
            <a:r>
              <a:rPr lang="en-US" sz="2000" b="1" dirty="0" smtClean="0"/>
              <a:t>REFERENCES</a:t>
            </a:r>
            <a:endParaRPr lang="en-IN" sz="2000" b="1" dirty="0"/>
          </a:p>
        </p:txBody>
      </p:sp>
    </p:spTree>
    <p:extLst>
      <p:ext uri="{BB962C8B-B14F-4D97-AF65-F5344CB8AC3E}">
        <p14:creationId xmlns:p14="http://schemas.microsoft.com/office/powerpoint/2010/main" val="8353262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1041" y="425885"/>
            <a:ext cx="11210795" cy="58621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656623" y="1760093"/>
            <a:ext cx="10899629" cy="3831818"/>
          </a:xfrm>
          <a:prstGeom prst="rect">
            <a:avLst/>
          </a:prstGeom>
          <a:noFill/>
        </p:spPr>
        <p:txBody>
          <a:bodyPr wrap="square" rtlCol="0">
            <a:spAutoFit/>
          </a:bodyPr>
          <a:lstStyle/>
          <a:p>
            <a:pPr algn="just">
              <a:lnSpc>
                <a:spcPct val="150000"/>
              </a:lnSpc>
            </a:pPr>
            <a:r>
              <a:rPr lang="en-IN" dirty="0"/>
              <a:t>[6] </a:t>
            </a:r>
            <a:r>
              <a:rPr lang="en-IN" dirty="0" err="1"/>
              <a:t>Kermany</a:t>
            </a:r>
            <a:r>
              <a:rPr lang="en-IN" dirty="0"/>
              <a:t>, D. S., </a:t>
            </a:r>
            <a:r>
              <a:rPr lang="en-IN" dirty="0" err="1"/>
              <a:t>Goldbaum</a:t>
            </a:r>
            <a:r>
              <a:rPr lang="en-IN" dirty="0"/>
              <a:t>, M., </a:t>
            </a:r>
            <a:r>
              <a:rPr lang="en-IN" dirty="0" err="1"/>
              <a:t>Cai</a:t>
            </a:r>
            <a:r>
              <a:rPr lang="en-IN" dirty="0"/>
              <a:t>, W., et al., “Identifying Medical Diagnoses and Treatable Diseases by Image-Based Deep Learning,” </a:t>
            </a:r>
            <a:r>
              <a:rPr lang="en-IN" i="1" dirty="0"/>
              <a:t>Cell</a:t>
            </a:r>
            <a:r>
              <a:rPr lang="en-IN" dirty="0"/>
              <a:t>, vol. 172, no. 5, pp. 1122–1131, Feb. 2018. </a:t>
            </a:r>
          </a:p>
          <a:p>
            <a:pPr algn="just">
              <a:lnSpc>
                <a:spcPct val="150000"/>
              </a:lnSpc>
            </a:pPr>
            <a:r>
              <a:rPr lang="en-IN" dirty="0"/>
              <a:t>[7] </a:t>
            </a:r>
            <a:r>
              <a:rPr lang="en-IN" dirty="0" err="1"/>
              <a:t>LeCun</a:t>
            </a:r>
            <a:r>
              <a:rPr lang="en-IN" dirty="0"/>
              <a:t>, Y., </a:t>
            </a:r>
            <a:r>
              <a:rPr lang="en-IN" dirty="0" err="1"/>
              <a:t>Bengio</a:t>
            </a:r>
            <a:r>
              <a:rPr lang="en-IN" dirty="0"/>
              <a:t>, Y., and Hinton, G., “Deep Learning,” </a:t>
            </a:r>
            <a:r>
              <a:rPr lang="en-IN" i="1" dirty="0"/>
              <a:t>Nature</a:t>
            </a:r>
            <a:r>
              <a:rPr lang="en-IN" dirty="0"/>
              <a:t>, vol. 521, no. 7553, pp. 436–444, May 2015. </a:t>
            </a:r>
          </a:p>
          <a:p>
            <a:pPr algn="just">
              <a:lnSpc>
                <a:spcPct val="150000"/>
              </a:lnSpc>
            </a:pPr>
            <a:r>
              <a:rPr lang="en-IN" dirty="0"/>
              <a:t>[8] Hard, A., Rao, K., Mathews, R., et al., “Federated Learning for Mobile Keyboard Prediction,” </a:t>
            </a:r>
            <a:r>
              <a:rPr lang="en-IN" i="1" dirty="0" err="1"/>
              <a:t>arXiv</a:t>
            </a:r>
            <a:r>
              <a:rPr lang="en-IN" i="1" dirty="0"/>
              <a:t> preprint arXiv:1811.03604</a:t>
            </a:r>
            <a:r>
              <a:rPr lang="en-IN" dirty="0"/>
              <a:t>, 2018. </a:t>
            </a:r>
          </a:p>
          <a:p>
            <a:pPr algn="just">
              <a:lnSpc>
                <a:spcPct val="150000"/>
              </a:lnSpc>
            </a:pPr>
            <a:r>
              <a:rPr lang="en-IN" dirty="0"/>
              <a:t>[9] </a:t>
            </a:r>
            <a:r>
              <a:rPr lang="en-IN" dirty="0" err="1"/>
              <a:t>Abràmoff</a:t>
            </a:r>
            <a:r>
              <a:rPr lang="en-IN" dirty="0"/>
              <a:t>, M. D., Lavin, P. T., Birch, M., et al., “Pivotal Trial of an Autonomous AI-Based Diagnostic System for Detection of Diabetic Retinopathy,” </a:t>
            </a:r>
            <a:r>
              <a:rPr lang="en-IN" i="1" dirty="0" err="1"/>
              <a:t>npj</a:t>
            </a:r>
            <a:r>
              <a:rPr lang="en-IN" i="1" dirty="0"/>
              <a:t> Digital Medicine</a:t>
            </a:r>
            <a:r>
              <a:rPr lang="en-IN" dirty="0"/>
              <a:t>, vol. 1, no. 1, p. 39, 2018. </a:t>
            </a:r>
          </a:p>
          <a:p>
            <a:pPr algn="just">
              <a:lnSpc>
                <a:spcPct val="150000"/>
              </a:lnSpc>
            </a:pPr>
            <a:r>
              <a:rPr lang="en-IN" dirty="0"/>
              <a:t>[10] Ting, D. S. W., Cheung, C. Y., Lim, G., et al., “Development and Validation of a Deep Learning System for Diabetic Retinopathy and Related Eye Diseases,” </a:t>
            </a:r>
            <a:r>
              <a:rPr lang="en-IN" i="1" dirty="0"/>
              <a:t>JAMA</a:t>
            </a:r>
            <a:r>
              <a:rPr lang="en-IN" dirty="0"/>
              <a:t>, vol. 318, no. 22, pp. 2211–2223, 2017. </a:t>
            </a:r>
            <a:endParaRPr lang="en-IN" dirty="0"/>
          </a:p>
        </p:txBody>
      </p:sp>
      <p:sp>
        <p:nvSpPr>
          <p:cNvPr id="4" name="TextBox 3"/>
          <p:cNvSpPr txBox="1"/>
          <p:nvPr/>
        </p:nvSpPr>
        <p:spPr>
          <a:xfrm>
            <a:off x="5060516" y="908323"/>
            <a:ext cx="3319397" cy="369332"/>
          </a:xfrm>
          <a:prstGeom prst="rect">
            <a:avLst/>
          </a:prstGeom>
          <a:noFill/>
        </p:spPr>
        <p:txBody>
          <a:bodyPr wrap="square" rtlCol="0">
            <a:spAutoFit/>
          </a:bodyPr>
          <a:lstStyle/>
          <a:p>
            <a:r>
              <a:rPr lang="en-US" b="1" dirty="0" smtClean="0"/>
              <a:t>REFERENCES</a:t>
            </a:r>
            <a:endParaRPr lang="en-IN" b="1" dirty="0"/>
          </a:p>
        </p:txBody>
      </p:sp>
    </p:spTree>
    <p:extLst>
      <p:ext uri="{BB962C8B-B14F-4D97-AF65-F5344CB8AC3E}">
        <p14:creationId xmlns:p14="http://schemas.microsoft.com/office/powerpoint/2010/main" val="9672204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2963" y="2500018"/>
            <a:ext cx="10515600" cy="1325563"/>
          </a:xfrm>
        </p:spPr>
        <p:txBody>
          <a:bodyPr>
            <a:normAutofit/>
          </a:bodyPr>
          <a:lstStyle/>
          <a:p>
            <a:pPr algn="ctr"/>
            <a:r>
              <a:rPr lang="en-US" sz="32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r>
              <a:rPr lang="en-US" sz="28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en-US" sz="28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IN" sz="105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4116007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6">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618</TotalTime>
  <Words>2094</Words>
  <Application>Microsoft Office PowerPoint</Application>
  <PresentationFormat>Widescreen</PresentationFormat>
  <Paragraphs>122</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Deepalakshmi M</dc:creator>
  <cp:lastModifiedBy>Deepalakshmi M</cp:lastModifiedBy>
  <cp:revision>30</cp:revision>
  <dcterms:created xsi:type="dcterms:W3CDTF">2025-09-03T12:07:01Z</dcterms:created>
  <dcterms:modified xsi:type="dcterms:W3CDTF">2026-04-01T09:13:55Z</dcterms:modified>
</cp:coreProperties>
</file>